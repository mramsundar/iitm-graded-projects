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70" r:id="rId1"/>
  </p:sldMasterIdLst>
  <p:sldIdLst>
    <p:sldId id="256" r:id="rId2"/>
    <p:sldId id="257" r:id="rId3"/>
    <p:sldId id="263" r:id="rId4"/>
    <p:sldId id="258" r:id="rId5"/>
    <p:sldId id="265" r:id="rId6"/>
    <p:sldId id="266" r:id="rId7"/>
    <p:sldId id="264" r:id="rId8"/>
    <p:sldId id="259" r:id="rId9"/>
    <p:sldId id="260" r:id="rId10"/>
    <p:sldId id="261" r:id="rId11"/>
    <p:sldId id="262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809"/>
    <p:restoredTop sz="94647"/>
  </p:normalViewPr>
  <p:slideViewPr>
    <p:cSldViewPr snapToGrid="0">
      <p:cViewPr varScale="1">
        <p:scale>
          <a:sx n="136" d="100"/>
          <a:sy n="136" d="100"/>
        </p:scale>
        <p:origin x="166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2982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864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37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199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098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020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721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947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038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016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7298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05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6632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312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1729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2462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022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E31F35A-E116-9941-8BCB-58EC54DB536B}" type="datetimeFigureOut">
              <a:rPr lang="en-US" smtClean="0"/>
              <a:t>12/27/25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E4E13F1D-BCB1-3040-8764-FDB6CB42EC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6318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71" r:id="rId1"/>
    <p:sldLayoutId id="2147483872" r:id="rId2"/>
    <p:sldLayoutId id="2147483873" r:id="rId3"/>
    <p:sldLayoutId id="2147483874" r:id="rId4"/>
    <p:sldLayoutId id="2147483875" r:id="rId5"/>
    <p:sldLayoutId id="2147483876" r:id="rId6"/>
    <p:sldLayoutId id="2147483877" r:id="rId7"/>
    <p:sldLayoutId id="2147483878" r:id="rId8"/>
    <p:sldLayoutId id="2147483879" r:id="rId9"/>
    <p:sldLayoutId id="2147483880" r:id="rId10"/>
    <p:sldLayoutId id="2147483881" r:id="rId11"/>
    <p:sldLayoutId id="2147483882" r:id="rId12"/>
    <p:sldLayoutId id="2147483883" r:id="rId13"/>
    <p:sldLayoutId id="2147483884" r:id="rId14"/>
    <p:sldLayoutId id="2147483885" r:id="rId15"/>
    <p:sldLayoutId id="2147483886" r:id="rId16"/>
    <p:sldLayoutId id="214748388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44E3D-23BE-6952-3A29-ED3A1E43C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Week 31 Assignment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C6B4E4-F81A-25B9-B71B-7575940369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Ram Sundar</a:t>
            </a:r>
          </a:p>
        </p:txBody>
      </p:sp>
    </p:spTree>
    <p:extLst>
      <p:ext uri="{BB962C8B-B14F-4D97-AF65-F5344CB8AC3E}">
        <p14:creationId xmlns:p14="http://schemas.microsoft.com/office/powerpoint/2010/main" val="323003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D216D-0A0C-0A8F-7292-8DBAE3273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B0BE2-D2E8-6E49-6189-AD9AA1C67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800" dirty="0"/>
              <a:t>Understand the structure of the Twitter dataset</a:t>
            </a:r>
          </a:p>
          <a:p>
            <a:r>
              <a:rPr lang="en-US" sz="2800" dirty="0"/>
              <a:t>Perform data preprocessing and text cleaning</a:t>
            </a:r>
          </a:p>
          <a:p>
            <a:r>
              <a:rPr lang="en-US" sz="2800" dirty="0"/>
              <a:t>Conduct exploratory data analysis to uncover insights</a:t>
            </a:r>
          </a:p>
          <a:p>
            <a:r>
              <a:rPr lang="en-US" sz="2800" dirty="0"/>
              <a:t>Build a Recurrent Neural Network (RNN) model for sentiment classification</a:t>
            </a:r>
          </a:p>
          <a:p>
            <a:r>
              <a:rPr lang="en-US" sz="2800" dirty="0"/>
              <a:t>Evaluate and improve the performance of the model</a:t>
            </a:r>
          </a:p>
          <a:p>
            <a:r>
              <a:rPr lang="en-US" sz="2800" dirty="0"/>
              <a:t>Present findings and 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1663317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C75A3-DAD0-E556-56F4-C186D5F0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Dataset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1B710-B027-C5BB-B44E-E440D8EB7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1640265"/>
            <a:ext cx="10131425" cy="4807670"/>
          </a:xfrm>
        </p:spPr>
        <p:txBody>
          <a:bodyPr>
            <a:normAutofit fontScale="92500" lnSpcReduction="10000"/>
          </a:bodyPr>
          <a:lstStyle/>
          <a:p>
            <a:r>
              <a:rPr lang="en-US" sz="1600" dirty="0"/>
              <a:t>Standard CSV without headers</a:t>
            </a:r>
          </a:p>
          <a:p>
            <a:r>
              <a:rPr lang="en-US" sz="1600" dirty="0"/>
              <a:t>Appears to be from multiple sources</a:t>
            </a:r>
          </a:p>
          <a:p>
            <a:r>
              <a:rPr lang="en-US" sz="1600" dirty="0"/>
              <a:t>Dataset observations</a:t>
            </a:r>
          </a:p>
          <a:p>
            <a:pPr lvl="1"/>
            <a:r>
              <a:rPr lang="en-IN" dirty="0"/>
              <a:t>Total Rows: 74681 </a:t>
            </a:r>
          </a:p>
          <a:p>
            <a:pPr lvl="1"/>
            <a:r>
              <a:rPr lang="en-IN" dirty="0"/>
              <a:t>Total Columns: 4 </a:t>
            </a:r>
          </a:p>
          <a:p>
            <a:pPr lvl="1"/>
            <a:r>
              <a:rPr lang="en-IN" dirty="0"/>
              <a:t>Duplicate Rows: 2700 (3.62%) </a:t>
            </a:r>
          </a:p>
          <a:p>
            <a:pPr lvl="1"/>
            <a:r>
              <a:rPr lang="en-IN" dirty="0"/>
              <a:t>Total Missing Values: 686 </a:t>
            </a:r>
          </a:p>
          <a:p>
            <a:pPr lvl="1"/>
            <a:r>
              <a:rPr lang="en-IN" dirty="0"/>
              <a:t>Completely Empty Rows: 0</a:t>
            </a:r>
          </a:p>
          <a:p>
            <a:r>
              <a:rPr lang="en-IN" sz="1600" dirty="0"/>
              <a:t>Dataset after post processing</a:t>
            </a:r>
          </a:p>
          <a:p>
            <a:pPr lvl="1"/>
            <a:r>
              <a:rPr lang="en-IN" dirty="0"/>
              <a:t>Total Rows: 57296 </a:t>
            </a:r>
          </a:p>
          <a:p>
            <a:pPr lvl="1"/>
            <a:r>
              <a:rPr lang="en-IN" dirty="0"/>
              <a:t>Total Columns: 2 </a:t>
            </a:r>
          </a:p>
          <a:p>
            <a:pPr lvl="1"/>
            <a:r>
              <a:rPr lang="en-IN" dirty="0"/>
              <a:t>Duplicate Rows: 0 (0.00%) </a:t>
            </a:r>
          </a:p>
          <a:p>
            <a:pPr lvl="1"/>
            <a:r>
              <a:rPr lang="en-IN" dirty="0"/>
              <a:t>Total Missing Values: 0 </a:t>
            </a:r>
          </a:p>
          <a:p>
            <a:pPr lvl="1"/>
            <a:r>
              <a:rPr lang="en-IN" dirty="0"/>
              <a:t>Completely Empty Rows: 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1599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834A5-2090-DD49-FD70-DC67F66A7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 – Sentiment distribution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766DCC3-7037-F7F9-A7B3-AC64658E30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17923" y="2141538"/>
            <a:ext cx="5867178" cy="364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373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BECAE-18CD-0A46-591B-FC05BFE30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FA140-FC83-BDF7-A369-AA24C80E2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 – top 10 Positive keywords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21424FF-DDF6-6527-F6E3-37BEED4412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26849" y="2141538"/>
            <a:ext cx="5649327" cy="364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65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70824-61C3-56EF-392A-823A889D1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6D185-02BA-012C-9145-19EC6895B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 – top 10 Negative keywords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F8872D8-931F-E572-699D-D93A973399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68934" y="2141538"/>
            <a:ext cx="5965157" cy="364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672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DDD6A-37E9-78E0-B4A3-480A87D8F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556CC-6748-0A8D-F871-06DF8469F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– Key findings – word clouds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D9590C6-6F41-D3D1-F2B8-18C317585A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5692" y="2790430"/>
            <a:ext cx="4990308" cy="23281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F3B9AE1-F91A-FF0F-5D81-A52F74702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9718" y="2790430"/>
            <a:ext cx="4562666" cy="2012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986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92DFF-814A-599F-06E0-AF6F5E181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 model build -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E14B8-FF70-6A8A-BAFF-14D769A0C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78518" cy="4351338"/>
          </a:xfrm>
        </p:spPr>
        <p:txBody>
          <a:bodyPr>
            <a:normAutofit/>
          </a:bodyPr>
          <a:lstStyle/>
          <a:p>
            <a:r>
              <a:rPr lang="en-US" sz="2400" dirty="0"/>
              <a:t>Deep NN was chosen with multiple layers</a:t>
            </a:r>
          </a:p>
          <a:p>
            <a:r>
              <a:rPr lang="en-US" sz="2400" dirty="0"/>
              <a:t>Embedding layer to begin with</a:t>
            </a:r>
          </a:p>
          <a:p>
            <a:r>
              <a:rPr lang="en-US" sz="2400" dirty="0"/>
              <a:t>Bi Directional LSTM</a:t>
            </a:r>
          </a:p>
          <a:p>
            <a:r>
              <a:rPr lang="en-US" sz="2400" dirty="0"/>
              <a:t>Followed by Dense </a:t>
            </a:r>
            <a:r>
              <a:rPr lang="en-US" sz="2400" dirty="0" err="1"/>
              <a:t>Relu</a:t>
            </a:r>
            <a:r>
              <a:rPr lang="en-US" sz="2400" dirty="0"/>
              <a:t> </a:t>
            </a:r>
          </a:p>
          <a:p>
            <a:r>
              <a:rPr lang="en-US" sz="2400" dirty="0"/>
              <a:t>Lastly </a:t>
            </a:r>
            <a:r>
              <a:rPr lang="en-US" sz="2400" dirty="0" err="1"/>
              <a:t>softmax</a:t>
            </a:r>
            <a:r>
              <a:rPr lang="en-US" sz="2400" dirty="0"/>
              <a:t> with 3 classes for prediction probabilities</a:t>
            </a:r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A7E4FE33-A085-E501-D418-6A1EB0DD1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5653" y="768152"/>
            <a:ext cx="1963145" cy="550343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B6885D1-F740-562E-DA1B-8ACF3FB03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350" y="2235253"/>
            <a:ext cx="4303305" cy="2557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851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7828D-4310-A42B-D29A-677BC8A9A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 results and performance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E4A4C-6432-BB20-FCC0-EC606AD72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94789"/>
            <a:ext cx="7136877" cy="1753384"/>
          </a:xfrm>
        </p:spPr>
        <p:txBody>
          <a:bodyPr>
            <a:normAutofit fontScale="85000" lnSpcReduction="20000"/>
          </a:bodyPr>
          <a:lstStyle/>
          <a:p>
            <a:r>
              <a:rPr lang="en-US" sz="2400" dirty="0"/>
              <a:t>10 Epochs were chosen – as per industry standard recommendation for tweet sentiment analysis</a:t>
            </a:r>
          </a:p>
          <a:p>
            <a:r>
              <a:rPr lang="en-US" sz="2400" dirty="0"/>
              <a:t>Obtained ~82% Accuracy</a:t>
            </a:r>
          </a:p>
          <a:p>
            <a:r>
              <a:rPr lang="en-US" sz="2400" dirty="0"/>
              <a:t>Performed what-if analysis to find out impact of not stopping early</a:t>
            </a:r>
          </a:p>
          <a:p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B1270F5-E89A-0B82-7CB1-5F26F8269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7228" y="3047400"/>
            <a:ext cx="3988470" cy="33192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DA04BB5-8F34-4594-A4B7-48A77CDACA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583" y="3843193"/>
            <a:ext cx="7065818" cy="252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382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7C9E3-6F48-8E68-7DB1-87414461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faced &amp; Model improvement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60C2D-5BBE-3717-3DCE-612A18CB3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08" y="1838227"/>
            <a:ext cx="5328754" cy="4751108"/>
          </a:xfrm>
        </p:spPr>
        <p:txBody>
          <a:bodyPr>
            <a:normAutofit/>
          </a:bodyPr>
          <a:lstStyle/>
          <a:p>
            <a:r>
              <a:rPr lang="en-US" sz="2000" dirty="0"/>
              <a:t>Cross validation was performed with 5 folds</a:t>
            </a:r>
          </a:p>
          <a:p>
            <a:r>
              <a:rPr lang="en-US" sz="2000" dirty="0"/>
              <a:t>Model performance was consistent with an average validation accuracy of 83.5%</a:t>
            </a:r>
          </a:p>
          <a:p>
            <a:r>
              <a:rPr lang="en-US" sz="2000" dirty="0"/>
              <a:t>Grid search with various dropout rates were performed as well</a:t>
            </a:r>
          </a:p>
          <a:p>
            <a:r>
              <a:rPr lang="en-US" sz="2000" dirty="0"/>
              <a:t>Our RNN model and hyperparameter choice was proven solid</a:t>
            </a:r>
          </a:p>
          <a:p>
            <a:r>
              <a:rPr lang="en-US" sz="2000" dirty="0"/>
              <a:t>External benchmarking was performed with NLTK twitter dataset</a:t>
            </a:r>
          </a:p>
          <a:p>
            <a:r>
              <a:rPr lang="en-US" sz="2000" dirty="0"/>
              <a:t>Results were moderate at best, indicating the need to use a global vocabulary for embeddings generation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70C085-CE77-B237-AD68-11D22C6D8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639" y="2032010"/>
            <a:ext cx="5083123" cy="123174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A6948D-3EB6-E7C6-A604-4A1548A35B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4768"/>
          <a:stretch>
            <a:fillRect/>
          </a:stretch>
        </p:blipFill>
        <p:spPr>
          <a:xfrm>
            <a:off x="6202245" y="3320081"/>
            <a:ext cx="5839519" cy="69117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5EC6E1-5413-51B9-EDD9-7058898851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374" y="4119350"/>
            <a:ext cx="3662615" cy="246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20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92BE4-0E2C-F8D6-7CAC-CD6972562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tweet demonstration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CA00AB-ABCE-0C7E-D2A1-D8C4EBB3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5052"/>
            <a:ext cx="5581454" cy="4351338"/>
          </a:xfrm>
        </p:spPr>
        <p:txBody>
          <a:bodyPr>
            <a:normAutofit/>
          </a:bodyPr>
          <a:lstStyle/>
          <a:p>
            <a:r>
              <a:rPr lang="en-US" sz="2400" dirty="0"/>
              <a:t>Model performed very well when tested with sample tweets – accurately predicting all inputs given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29DD52-8F9E-8EF7-4D4F-8623D8385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980" y="1340359"/>
            <a:ext cx="4360705" cy="5152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6387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37843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B36E0D05-787B-4C61-8268-2D6C1FBEDA3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36</TotalTime>
  <Words>304</Words>
  <Application>Microsoft Macintosh PowerPoint</Application>
  <PresentationFormat>Widescreen</PresentationFormat>
  <Paragraphs>47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Celestial</vt:lpstr>
      <vt:lpstr>Week 31 Assignment Summary</vt:lpstr>
      <vt:lpstr>Objectives</vt:lpstr>
      <vt:lpstr>Dataset Overview</vt:lpstr>
      <vt:lpstr>EDA – Key findings – Sentiment distribution</vt:lpstr>
      <vt:lpstr>EDA – Key findings – top 10 Positive keywords</vt:lpstr>
      <vt:lpstr>EDA – Key findings – top 10 Negative keywords</vt:lpstr>
      <vt:lpstr>EDA – Key findings – word clouds</vt:lpstr>
      <vt:lpstr>RNN model build - Methodology</vt:lpstr>
      <vt:lpstr>Eval results and performance metrics</vt:lpstr>
      <vt:lpstr>Challenges faced &amp; Model improvement</vt:lpstr>
      <vt:lpstr>Sample tweet demonstration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 Sundar</dc:creator>
  <cp:lastModifiedBy>Ram Sundar</cp:lastModifiedBy>
  <cp:revision>22</cp:revision>
  <dcterms:created xsi:type="dcterms:W3CDTF">2025-12-26T14:56:28Z</dcterms:created>
  <dcterms:modified xsi:type="dcterms:W3CDTF">2025-12-27T06:43:14Z</dcterms:modified>
</cp:coreProperties>
</file>