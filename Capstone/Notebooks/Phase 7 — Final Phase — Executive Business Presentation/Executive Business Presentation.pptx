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–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80"/>
  </p:normalViewPr>
  <p:slideViewPr>
    <p:cSldViewPr snapToGrid="0">
      <p:cViewPr varScale="1">
        <p:scale>
          <a:sx n="137" d="100"/>
          <a:sy n="137" d="100"/>
        </p:scale>
        <p:origin x="1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3E7C-06DA-534A-8C71-B8C9576ECB5A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3961-DDF7-7044-AB75-7B01026C8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86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3E7C-06DA-534A-8C71-B8C9576ECB5A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3961-DDF7-7044-AB75-7B01026C8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57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3E7C-06DA-534A-8C71-B8C9576ECB5A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3961-DDF7-7044-AB75-7B01026C8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8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3E7C-06DA-534A-8C71-B8C9576ECB5A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3961-DDF7-7044-AB75-7B01026C8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67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3E7C-06DA-534A-8C71-B8C9576ECB5A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3961-DDF7-7044-AB75-7B01026C8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3E7C-06DA-534A-8C71-B8C9576ECB5A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3961-DDF7-7044-AB75-7B01026C8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99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3E7C-06DA-534A-8C71-B8C9576ECB5A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3961-DDF7-7044-AB75-7B01026C8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02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3E7C-06DA-534A-8C71-B8C9576ECB5A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3961-DDF7-7044-AB75-7B01026C8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8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3E7C-06DA-534A-8C71-B8C9576ECB5A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3961-DDF7-7044-AB75-7B01026C8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0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3E7C-06DA-534A-8C71-B8C9576ECB5A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3961-DDF7-7044-AB75-7B01026C8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23E7C-06DA-534A-8C71-B8C9576ECB5A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43961-DDF7-7044-AB75-7B01026C8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4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23E7C-06DA-534A-8C71-B8C9576ECB5A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643961-DDF7-7044-AB75-7B01026C8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3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0A7430-11B0-8C21-4683-71ED76D27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A086B8-ABB4-0E73-4067-4D99F9C60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rgbClr val="CAEEFB">
              <a:alpha val="56863"/>
            </a:srgbClr>
          </a:solidFill>
          <a:ln>
            <a:noFill/>
          </a:ln>
        </p:spPr>
        <p:txBody>
          <a:bodyPr/>
          <a:lstStyle/>
          <a:p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Executive Business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D4F6C-50B3-D766-49EB-77B5F40BF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06436"/>
          </a:xfrm>
          <a:solidFill>
            <a:srgbClr val="CAEEFB">
              <a:alpha val="56863"/>
            </a:srgbClr>
          </a:solidFill>
          <a:ln>
            <a:noFill/>
          </a:ln>
        </p:spPr>
        <p:txBody>
          <a:bodyPr>
            <a:normAutofit lnSpcReduction="10000"/>
          </a:bodyPr>
          <a:lstStyle/>
          <a:p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Ram Sundar</a:t>
            </a:r>
          </a:p>
        </p:txBody>
      </p:sp>
    </p:spTree>
    <p:extLst>
      <p:ext uri="{BB962C8B-B14F-4D97-AF65-F5344CB8AC3E}">
        <p14:creationId xmlns:p14="http://schemas.microsoft.com/office/powerpoint/2010/main" val="256192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242C-645A-5517-BBD4-D5ECE9D6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9FF88-4FAC-CA3C-5E4B-FB2E28E58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288763" cy="4351338"/>
          </a:xfrm>
        </p:spPr>
        <p:txBody>
          <a:bodyPr>
            <a:normAutofit/>
          </a:bodyPr>
          <a:lstStyle/>
          <a:p>
            <a:r>
              <a:rPr lang="en-US" dirty="0"/>
              <a:t>Business problem and operational risks</a:t>
            </a:r>
          </a:p>
          <a:p>
            <a:r>
              <a:rPr lang="en-US" dirty="0"/>
              <a:t>System architecture and data flow</a:t>
            </a:r>
          </a:p>
          <a:p>
            <a:r>
              <a:rPr lang="en-US" dirty="0"/>
              <a:t>Key insights from SQL and EDA</a:t>
            </a:r>
          </a:p>
          <a:p>
            <a:r>
              <a:rPr lang="en-US" dirty="0"/>
              <a:t>Model performance in business terms</a:t>
            </a:r>
          </a:p>
          <a:p>
            <a:r>
              <a:rPr lang="en-US" dirty="0"/>
              <a:t>Financial impact and ROI estimation</a:t>
            </a:r>
          </a:p>
          <a:p>
            <a:r>
              <a:rPr lang="en-US" dirty="0"/>
              <a:t>Deployment and scaling strategy</a:t>
            </a:r>
          </a:p>
          <a:p>
            <a:r>
              <a:rPr lang="en-US" dirty="0"/>
              <a:t>Risk management and compliance plan</a:t>
            </a:r>
          </a:p>
        </p:txBody>
      </p:sp>
    </p:spTree>
    <p:extLst>
      <p:ext uri="{BB962C8B-B14F-4D97-AF65-F5344CB8AC3E}">
        <p14:creationId xmlns:p14="http://schemas.microsoft.com/office/powerpoint/2010/main" val="3625537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DA2C5-6A86-9AD1-7ADA-CC423DD29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 and operational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1B3AA-70D3-7886-98D0-792616547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265" y="1825625"/>
            <a:ext cx="11700587" cy="478044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800" dirty="0"/>
              <a:t>The Problem</a:t>
            </a:r>
          </a:p>
          <a:p>
            <a:r>
              <a:rPr lang="en-US" dirty="0"/>
              <a:t>Healthcare organizations face two interconnected operational challenges:</a:t>
            </a:r>
          </a:p>
          <a:p>
            <a:r>
              <a:rPr lang="en-US" b="1" dirty="0"/>
              <a:t>Patient Risk Triage:</a:t>
            </a:r>
            <a:r>
              <a:rPr lang="en-US" dirty="0"/>
              <a:t> Hospitals cannot efficiently prioritize patients at check-in. Without automated risk stratification, clinical staff rely on subjective assessment, leading to delayed care for high-risk patients and misallocated resources across departments.</a:t>
            </a:r>
          </a:p>
          <a:p>
            <a:r>
              <a:rPr lang="en-US" b="1" dirty="0"/>
              <a:t>Insurance Claim Outcomes:</a:t>
            </a:r>
            <a:r>
              <a:rPr lang="en-US" dirty="0"/>
              <a:t> Claims processing is reactive, not predictive. Rejected or pending claims (claim statuses: Paid / Pending / Rejected) create revenue leakage, delayed cash flow, and administrative overhead. Billing teams discover rejections only after submission.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800" dirty="0"/>
              <a:t>Operational Risks Identified</a:t>
            </a:r>
          </a:p>
          <a:p>
            <a:r>
              <a:rPr lang="en-US" b="1" dirty="0"/>
              <a:t>Department-level risk concentration:</a:t>
            </a:r>
            <a:r>
              <a:rPr lang="en-US" dirty="0"/>
              <a:t> Certain departments (Cardiology, ICU, ER) handle disproportionately high volumes of "High" risk visits, requiring targeted staffing</a:t>
            </a:r>
          </a:p>
          <a:p>
            <a:r>
              <a:rPr lang="en-US" b="1" dirty="0"/>
              <a:t>Insurance provider variability:</a:t>
            </a:r>
            <a:r>
              <a:rPr lang="en-US" dirty="0"/>
              <a:t> The top 5 providers show significantly different rejection rates, indicating that claim preparation must be provider-aware</a:t>
            </a:r>
          </a:p>
          <a:p>
            <a:r>
              <a:rPr lang="en-US" b="1" dirty="0"/>
              <a:t>Payment delays: </a:t>
            </a:r>
            <a:r>
              <a:rPr lang="en-US" dirty="0"/>
              <a:t>Average payment days vary by insurance provider, impacting cash flow predictability</a:t>
            </a:r>
          </a:p>
          <a:p>
            <a:r>
              <a:rPr lang="en-US" b="1" dirty="0"/>
              <a:t>Revenue realization gaps:</a:t>
            </a:r>
            <a:r>
              <a:rPr lang="en-US" dirty="0"/>
              <a:t> Revenue realization ratios (approved/billed) differ significantly by department; some departments show high billing with zero approved amounts</a:t>
            </a:r>
          </a:p>
          <a:p>
            <a:r>
              <a:rPr lang="en-US" b="1" dirty="0"/>
              <a:t>Data integrity issues:</a:t>
            </a:r>
            <a:r>
              <a:rPr lang="en-US" dirty="0"/>
              <a:t> Orphaned visits (no billing record), missing payment days, and invalid length-of-stay values detected in source systems</a:t>
            </a:r>
          </a:p>
        </p:txBody>
      </p:sp>
    </p:spTree>
    <p:extLst>
      <p:ext uri="{BB962C8B-B14F-4D97-AF65-F5344CB8AC3E}">
        <p14:creationId xmlns:p14="http://schemas.microsoft.com/office/powerpoint/2010/main" val="3918926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963B3-1A6D-6FB2-97DD-A2AAEDEE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and 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BA92A-549F-7A32-1F0E-60AFF6309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748" y="1847461"/>
            <a:ext cx="6466114" cy="4645414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Raw CSV data ingested into SQLite database with indexed foreign keys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13 engineered features added in Phase 2: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visit_frequency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avg_length_of_stay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days_since_registration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total_billed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avg_payment_days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provider_rejection_rate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doctor_rejection_rate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visit_month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visit_day_of_week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visit_quarter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is_weekend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days_between_reg_and_visit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billing_delay_days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Missing values imputed with hierarchical median strategy (patient → department → global)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Time-based 80/20 train/test split (no shuffling — prevents data leakage)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Models serialized as .</a:t>
            </a:r>
            <a:r>
              <a:rPr lang="en-US" dirty="0" err="1"/>
              <a:t>pkl</a:t>
            </a:r>
            <a:r>
              <a:rPr lang="en-US" dirty="0"/>
              <a:t> pipelines with corresponding </a:t>
            </a:r>
            <a:r>
              <a:rPr lang="en-US" dirty="0" err="1"/>
              <a:t>feature_schema.json</a:t>
            </a:r>
            <a:r>
              <a:rPr lang="en-US" dirty="0"/>
              <a:t> for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Every API prediction logged with UUID, model version, timestamp, SHA-256 feature hash, label, and confidence score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5CF1C4-5B74-FA38-3D28-46296FC3C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32" y="1456892"/>
            <a:ext cx="448337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42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E210-943C-A32E-019E-9C0EF1A2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from SQL and EDA (1/2)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E4891C-4FDC-0EBC-1F91-78A8C696E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038672"/>
              </p:ext>
            </p:extLst>
          </p:nvPr>
        </p:nvGraphicFramePr>
        <p:xfrm>
          <a:off x="1073019" y="1690687"/>
          <a:ext cx="9797144" cy="4663455"/>
        </p:xfrm>
        <a:graphic>
          <a:graphicData uri="http://schemas.openxmlformats.org/drawingml/2006/table">
            <a:tbl>
              <a:tblPr firstRow="1" bandCol="1">
                <a:tableStyleId>{B301B821-A1FF-4177-AEE7-76D212191A09}</a:tableStyleId>
              </a:tblPr>
              <a:tblGrid>
                <a:gridCol w="2588109">
                  <a:extLst>
                    <a:ext uri="{9D8B030D-6E8A-4147-A177-3AD203B41FA5}">
                      <a16:colId xmlns:a16="http://schemas.microsoft.com/office/drawing/2014/main" val="3837884179"/>
                    </a:ext>
                  </a:extLst>
                </a:gridCol>
                <a:gridCol w="7209035">
                  <a:extLst>
                    <a:ext uri="{9D8B030D-6E8A-4147-A177-3AD203B41FA5}">
                      <a16:colId xmlns:a16="http://schemas.microsoft.com/office/drawing/2014/main" val="990174560"/>
                    </a:ext>
                  </a:extLst>
                </a:gridCol>
              </a:tblGrid>
              <a:tr h="2584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Analysis</a:t>
                      </a:r>
                    </a:p>
                  </a:txBody>
                  <a:tcPr marL="39319" marR="39319" marT="26213" marB="2621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Key Finding</a:t>
                      </a:r>
                    </a:p>
                  </a:txBody>
                  <a:tcPr marL="39319" marR="39319" marT="26213" marB="26213" anchor="ctr"/>
                </a:tc>
                <a:extLst>
                  <a:ext uri="{0D108BD9-81ED-4DB2-BD59-A6C34878D82A}">
                    <a16:rowId xmlns:a16="http://schemas.microsoft.com/office/drawing/2014/main" val="2713968191"/>
                  </a:ext>
                </a:extLst>
              </a:tr>
              <a:tr h="46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effectLst/>
                        </a:rPr>
                        <a:t>Department visit volume</a:t>
                      </a:r>
                      <a:endParaRPr lang="en-IN" sz="1200" dirty="0">
                        <a:effectLst/>
                      </a:endParaRPr>
                    </a:p>
                  </a:txBody>
                  <a:tcPr marL="39319" marR="39319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Top departments by volume identified; enables capacity planning</a:t>
                      </a:r>
                    </a:p>
                  </a:txBody>
                  <a:tcPr marL="39319" marR="39319" marT="26213" marB="26213" anchor="ctr"/>
                </a:tc>
                <a:extLst>
                  <a:ext uri="{0D108BD9-81ED-4DB2-BD59-A6C34878D82A}">
                    <a16:rowId xmlns:a16="http://schemas.microsoft.com/office/drawing/2014/main" val="19884881"/>
                  </a:ext>
                </a:extLst>
              </a:tr>
              <a:tr h="46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Length of stay</a:t>
                      </a:r>
                      <a:endParaRPr lang="en-IN" sz="1200">
                        <a:effectLst/>
                      </a:endParaRPr>
                    </a:p>
                  </a:txBody>
                  <a:tcPr marL="39319" marR="39319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Significant variation across departments — ICU and specialty wards have highest average stay</a:t>
                      </a:r>
                    </a:p>
                  </a:txBody>
                  <a:tcPr marL="39319" marR="39319" marT="26213" marB="26213" anchor="ctr"/>
                </a:tc>
                <a:extLst>
                  <a:ext uri="{0D108BD9-81ED-4DB2-BD59-A6C34878D82A}">
                    <a16:rowId xmlns:a16="http://schemas.microsoft.com/office/drawing/2014/main" val="3431851712"/>
                  </a:ext>
                </a:extLst>
              </a:tr>
              <a:tr h="46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High-risk concentration</a:t>
                      </a:r>
                      <a:endParaRPr lang="en-IN" sz="1200">
                        <a:effectLst/>
                      </a:endParaRPr>
                    </a:p>
                  </a:txBody>
                  <a:tcPr marL="39319" marR="39319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Certain departments carry a disproportionate share of High-risk visits</a:t>
                      </a:r>
                    </a:p>
                  </a:txBody>
                  <a:tcPr marL="39319" marR="39319" marT="26213" marB="26213" anchor="ctr"/>
                </a:tc>
                <a:extLst>
                  <a:ext uri="{0D108BD9-81ED-4DB2-BD59-A6C34878D82A}">
                    <a16:rowId xmlns:a16="http://schemas.microsoft.com/office/drawing/2014/main" val="4168627446"/>
                  </a:ext>
                </a:extLst>
              </a:tr>
              <a:tr h="46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Doctor workload</a:t>
                      </a:r>
                      <a:endParaRPr lang="en-IN" sz="1200">
                        <a:effectLst/>
                      </a:endParaRPr>
                    </a:p>
                  </a:txBody>
                  <a:tcPr marL="39319" marR="39319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Top 10 doctors handling the most High-risk visits identified — workforce balancing opportunity</a:t>
                      </a:r>
                    </a:p>
                  </a:txBody>
                  <a:tcPr marL="39319" marR="39319" marT="26213" marB="26213" anchor="ctr"/>
                </a:tc>
                <a:extLst>
                  <a:ext uri="{0D108BD9-81ED-4DB2-BD59-A6C34878D82A}">
                    <a16:rowId xmlns:a16="http://schemas.microsoft.com/office/drawing/2014/main" val="2490354408"/>
                  </a:ext>
                </a:extLst>
              </a:tr>
              <a:tr h="46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City-level utilization</a:t>
                      </a:r>
                      <a:endParaRPr lang="en-IN" sz="1200">
                        <a:effectLst/>
                      </a:endParaRPr>
                    </a:p>
                  </a:txBody>
                  <a:tcPr marL="39319" marR="39319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Average visits per patient varies by city — geographic resource allocation insight</a:t>
                      </a:r>
                    </a:p>
                  </a:txBody>
                  <a:tcPr marL="39319" marR="39319" marT="26213" marB="26213" anchor="ctr"/>
                </a:tc>
                <a:extLst>
                  <a:ext uri="{0D108BD9-81ED-4DB2-BD59-A6C34878D82A}">
                    <a16:rowId xmlns:a16="http://schemas.microsoft.com/office/drawing/2014/main" val="343318324"/>
                  </a:ext>
                </a:extLst>
              </a:tr>
              <a:tr h="258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Insurance billing</a:t>
                      </a:r>
                      <a:endParaRPr lang="en-IN" sz="1200">
                        <a:effectLst/>
                      </a:endParaRPr>
                    </a:p>
                  </a:txBody>
                  <a:tcPr marL="39319" marR="39319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Total billed amounts differ significantly by provider</a:t>
                      </a:r>
                    </a:p>
                  </a:txBody>
                  <a:tcPr marL="39319" marR="39319" marT="26213" marB="26213" anchor="ctr"/>
                </a:tc>
                <a:extLst>
                  <a:ext uri="{0D108BD9-81ED-4DB2-BD59-A6C34878D82A}">
                    <a16:rowId xmlns:a16="http://schemas.microsoft.com/office/drawing/2014/main" val="2230105829"/>
                  </a:ext>
                </a:extLst>
              </a:tr>
              <a:tr h="46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Claim rejection rates</a:t>
                      </a:r>
                      <a:endParaRPr lang="en-IN" sz="1200">
                        <a:effectLst/>
                      </a:endParaRPr>
                    </a:p>
                  </a:txBody>
                  <a:tcPr marL="39319" marR="39319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Rejection rates vary across insurance providers — some providers are harder to collect from</a:t>
                      </a:r>
                    </a:p>
                  </a:txBody>
                  <a:tcPr marL="39319" marR="39319" marT="26213" marB="26213" anchor="ctr"/>
                </a:tc>
                <a:extLst>
                  <a:ext uri="{0D108BD9-81ED-4DB2-BD59-A6C34878D82A}">
                    <a16:rowId xmlns:a16="http://schemas.microsoft.com/office/drawing/2014/main" val="1518514448"/>
                  </a:ext>
                </a:extLst>
              </a:tr>
              <a:tr h="46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Payment delays</a:t>
                      </a:r>
                      <a:endParaRPr lang="en-IN" sz="1200">
                        <a:effectLst/>
                      </a:endParaRPr>
                    </a:p>
                  </a:txBody>
                  <a:tcPr marL="39319" marR="39319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Average payment days differ by insurer — cash flow planning signal</a:t>
                      </a:r>
                    </a:p>
                  </a:txBody>
                  <a:tcPr marL="39319" marR="39319" marT="26213" marB="26213" anchor="ctr"/>
                </a:tc>
                <a:extLst>
                  <a:ext uri="{0D108BD9-81ED-4DB2-BD59-A6C34878D82A}">
                    <a16:rowId xmlns:a16="http://schemas.microsoft.com/office/drawing/2014/main" val="575377074"/>
                  </a:ext>
                </a:extLst>
              </a:tr>
              <a:tr h="46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Revenue realization</a:t>
                      </a:r>
                      <a:endParaRPr lang="en-IN" sz="1200">
                        <a:effectLst/>
                      </a:endParaRPr>
                    </a:p>
                  </a:txBody>
                  <a:tcPr marL="39319" marR="39319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Department-level approved/billed ratios reveal where money is being left on the table</a:t>
                      </a:r>
                    </a:p>
                  </a:txBody>
                  <a:tcPr marL="39319" marR="39319" marT="26213" marB="26213" anchor="ctr"/>
                </a:tc>
                <a:extLst>
                  <a:ext uri="{0D108BD9-81ED-4DB2-BD59-A6C34878D82A}">
                    <a16:rowId xmlns:a16="http://schemas.microsoft.com/office/drawing/2014/main" val="217235384"/>
                  </a:ext>
                </a:extLst>
              </a:tr>
              <a:tr h="460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effectLst/>
                        </a:rPr>
                        <a:t>High-bill zero-approval</a:t>
                      </a:r>
                      <a:endParaRPr lang="en-IN" sz="1200" dirty="0">
                        <a:effectLst/>
                      </a:endParaRPr>
                    </a:p>
                  </a:txBody>
                  <a:tcPr marL="39319" marR="39319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Flagged visits with billed amount &gt; $1,000 but $0 approved — potential billing errors</a:t>
                      </a:r>
                    </a:p>
                  </a:txBody>
                  <a:tcPr marL="39319" marR="39319" marT="26213" marB="26213" anchor="ctr"/>
                </a:tc>
                <a:extLst>
                  <a:ext uri="{0D108BD9-81ED-4DB2-BD59-A6C34878D82A}">
                    <a16:rowId xmlns:a16="http://schemas.microsoft.com/office/drawing/2014/main" val="1232110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9206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8866D-021B-53A1-B3CE-EC439876B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A064E-075A-6E24-AC21-AA373A97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from SQL and EDA (2/2)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FA031C-4294-3E80-CB80-9F6010D0B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437738"/>
              </p:ext>
            </p:extLst>
          </p:nvPr>
        </p:nvGraphicFramePr>
        <p:xfrm>
          <a:off x="1017036" y="1825626"/>
          <a:ext cx="10692881" cy="4351336"/>
        </p:xfrm>
        <a:graphic>
          <a:graphicData uri="http://schemas.openxmlformats.org/drawingml/2006/table">
            <a:tbl>
              <a:tblPr firstRow="1" bandCol="1">
                <a:tableStyleId>{5C22544A-7EE6-4342-B048-85BDC9FD1C3A}</a:tableStyleId>
              </a:tblPr>
              <a:tblGrid>
                <a:gridCol w="2519419">
                  <a:extLst>
                    <a:ext uri="{9D8B030D-6E8A-4147-A177-3AD203B41FA5}">
                      <a16:colId xmlns:a16="http://schemas.microsoft.com/office/drawing/2014/main" val="3636091268"/>
                    </a:ext>
                  </a:extLst>
                </a:gridCol>
                <a:gridCol w="8173462">
                  <a:extLst>
                    <a:ext uri="{9D8B030D-6E8A-4147-A177-3AD203B41FA5}">
                      <a16:colId xmlns:a16="http://schemas.microsoft.com/office/drawing/2014/main" val="1123917278"/>
                    </a:ext>
                  </a:extLst>
                </a:gridCol>
              </a:tblGrid>
              <a:tr h="27877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bg1"/>
                          </a:solidFill>
                          <a:effectLst/>
                        </a:rPr>
                        <a:t>Finding</a:t>
                      </a:r>
                      <a:endParaRPr lang="en-IN" sz="12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bg1"/>
                          </a:solidFill>
                          <a:effectLst/>
                        </a:rPr>
                        <a:t>Detail</a:t>
                      </a:r>
                      <a:endParaRPr lang="en-IN" sz="12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extLst>
                  <a:ext uri="{0D108BD9-81ED-4DB2-BD59-A6C34878D82A}">
                    <a16:rowId xmlns:a16="http://schemas.microsoft.com/office/drawing/2014/main" val="3648933624"/>
                  </a:ext>
                </a:extLst>
              </a:tr>
              <a:tr h="71512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</a:rPr>
                        <a:t>Target distributions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risk_score</a:t>
                      </a: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: ~50% Low / ~30% Medium / ~20% High; </a:t>
                      </a:r>
                      <a:r>
                        <a:rPr lang="en-IN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claim_status</a:t>
                      </a: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: ~65% Paid / ~15% Pending / ~20% Rejected</a:t>
                      </a:r>
                      <a:endParaRPr lang="en-IN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extLst>
                  <a:ext uri="{0D108BD9-81ED-4DB2-BD59-A6C34878D82A}">
                    <a16:rowId xmlns:a16="http://schemas.microsoft.com/office/drawing/2014/main" val="2983292457"/>
                  </a:ext>
                </a:extLst>
              </a:tr>
              <a:tr h="49694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</a:rPr>
                        <a:t>Class imbalance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0" kern="1200">
                          <a:solidFill>
                            <a:schemeClr val="tx1"/>
                          </a:solidFill>
                          <a:effectLst/>
                        </a:rPr>
                        <a:t>Both targets are imbalanced; addressed via SMOTE (training only) and PyCaret's fix_imbalance</a:t>
                      </a:r>
                      <a:endParaRPr lang="en-IN" sz="1200" b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extLst>
                  <a:ext uri="{0D108BD9-81ED-4DB2-BD59-A6C34878D82A}">
                    <a16:rowId xmlns:a16="http://schemas.microsoft.com/office/drawing/2014/main" val="683944207"/>
                  </a:ext>
                </a:extLst>
              </a:tr>
              <a:tr h="71512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</a:rPr>
                        <a:t>Missing values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approved_amount</a:t>
                      </a: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, </a:t>
                      </a:r>
                      <a:r>
                        <a:rPr lang="en-IN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payment_days</a:t>
                      </a: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, </a:t>
                      </a:r>
                      <a:r>
                        <a:rPr lang="en-IN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length_of_stay_hours</a:t>
                      </a: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 had missing values — imputed with cascading median strategy</a:t>
                      </a:r>
                      <a:endParaRPr lang="en-IN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extLst>
                  <a:ext uri="{0D108BD9-81ED-4DB2-BD59-A6C34878D82A}">
                    <a16:rowId xmlns:a16="http://schemas.microsoft.com/office/drawing/2014/main" val="3017260184"/>
                  </a:ext>
                </a:extLst>
              </a:tr>
              <a:tr h="71512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effectLst/>
                        </a:rPr>
                        <a:t>Outliers</a:t>
                      </a:r>
                      <a:endParaRPr lang="en-IN" sz="12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Detected in </a:t>
                      </a:r>
                      <a:r>
                        <a:rPr lang="en-IN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billed_amount</a:t>
                      </a: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, </a:t>
                      </a:r>
                      <a:r>
                        <a:rPr lang="en-IN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payment_days</a:t>
                      </a: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, </a:t>
                      </a:r>
                      <a:r>
                        <a:rPr lang="en-IN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length_of_stay_hours</a:t>
                      </a: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 via IQR method</a:t>
                      </a:r>
                      <a:endParaRPr lang="en-IN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extLst>
                  <a:ext uri="{0D108BD9-81ED-4DB2-BD59-A6C34878D82A}">
                    <a16:rowId xmlns:a16="http://schemas.microsoft.com/office/drawing/2014/main" val="101386270"/>
                  </a:ext>
                </a:extLst>
              </a:tr>
              <a:tr h="71512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effectLst/>
                        </a:rPr>
                        <a:t>Feature correlations</a:t>
                      </a:r>
                      <a:endParaRPr lang="en-IN" sz="1200" b="1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All correlations with </a:t>
                      </a:r>
                      <a:r>
                        <a:rPr lang="en-IN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risk_score</a:t>
                      </a: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 are weak (max |r| ≈ 0.025) — expected for categorical target; tree models handle this</a:t>
                      </a:r>
                      <a:endParaRPr lang="en-IN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extLst>
                  <a:ext uri="{0D108BD9-81ED-4DB2-BD59-A6C34878D82A}">
                    <a16:rowId xmlns:a16="http://schemas.microsoft.com/office/drawing/2014/main" val="4114490408"/>
                  </a:ext>
                </a:extLst>
              </a:tr>
              <a:tr h="71512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effectLst/>
                        </a:rPr>
                        <a:t>Billing date anomaly</a:t>
                      </a:r>
                      <a:endParaRPr lang="en-IN" sz="12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billing_date</a:t>
                      </a: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 is largely frozen (same date) — </a:t>
                      </a:r>
                      <a:r>
                        <a:rPr lang="en-IN" sz="1200" b="0" kern="1200" dirty="0" err="1">
                          <a:solidFill>
                            <a:schemeClr val="tx1"/>
                          </a:solidFill>
                          <a:effectLst/>
                        </a:rPr>
                        <a:t>billing_delay_days</a:t>
                      </a:r>
                      <a:r>
                        <a:rPr lang="en-IN" sz="1200" b="0" kern="1200" dirty="0">
                          <a:solidFill>
                            <a:schemeClr val="tx1"/>
                          </a:solidFill>
                          <a:effectLst/>
                        </a:rPr>
                        <a:t> flagged as unreliable and excluded</a:t>
                      </a:r>
                      <a:endParaRPr lang="en-IN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453" marR="45453" marT="30302" marB="30302" anchor="ctr"/>
                </a:tc>
                <a:extLst>
                  <a:ext uri="{0D108BD9-81ED-4DB2-BD59-A6C34878D82A}">
                    <a16:rowId xmlns:a16="http://schemas.microsoft.com/office/drawing/2014/main" val="3654777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355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115A-3DD0-F43A-02AB-B0250BB8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in business terms</a:t>
            </a:r>
            <a:br>
              <a:rPr lang="en-US" dirty="0"/>
            </a:br>
            <a:r>
              <a:rPr lang="en-US" dirty="0"/>
              <a:t>Model 1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BFCAEB8-345B-59C4-33DE-93CAEBAA5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571"/>
            <a:ext cx="10515600" cy="7837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Model 1: Patient Risk Classification</a:t>
            </a:r>
          </a:p>
          <a:p>
            <a:pPr marL="0" indent="0" algn="ctr">
              <a:buNone/>
            </a:pPr>
            <a:r>
              <a:rPr lang="en-US" sz="1600" b="1" dirty="0"/>
              <a:t>Purpose: Predict visit risk (Low / Medium / High) at the moment of patient check-in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98A0649-ED26-7189-BC2E-31DF6D81C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49783"/>
              </p:ext>
            </p:extLst>
          </p:nvPr>
        </p:nvGraphicFramePr>
        <p:xfrm>
          <a:off x="474305" y="2239342"/>
          <a:ext cx="10974355" cy="2362200"/>
        </p:xfrm>
        <a:graphic>
          <a:graphicData uri="http://schemas.openxmlformats.org/drawingml/2006/table">
            <a:tbl>
              <a:tblPr firstRow="1" bandCol="1">
                <a:tableStyleId>{B301B821-A1FF-4177-AEE7-76D212191A09}</a:tableStyleId>
              </a:tblPr>
              <a:tblGrid>
                <a:gridCol w="3019488">
                  <a:extLst>
                    <a:ext uri="{9D8B030D-6E8A-4147-A177-3AD203B41FA5}">
                      <a16:colId xmlns:a16="http://schemas.microsoft.com/office/drawing/2014/main" val="2782036426"/>
                    </a:ext>
                  </a:extLst>
                </a:gridCol>
                <a:gridCol w="7954867">
                  <a:extLst>
                    <a:ext uri="{9D8B030D-6E8A-4147-A177-3AD203B41FA5}">
                      <a16:colId xmlns:a16="http://schemas.microsoft.com/office/drawing/2014/main" val="835382556"/>
                    </a:ext>
                  </a:extLst>
                </a:gridCol>
              </a:tblGrid>
              <a:tr h="1318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effectLst/>
                        </a:rPr>
                        <a:t>Attribute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effectLst/>
                        </a:rPr>
                        <a:t>Detail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988766452"/>
                  </a:ext>
                </a:extLst>
              </a:tr>
              <a:tr h="131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effectLst/>
                        </a:rPr>
                        <a:t>Algorithm</a:t>
                      </a:r>
                      <a:endParaRPr lang="en-IN" sz="15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>
                          <a:effectLst/>
                        </a:rPr>
                        <a:t>XGBoost</a:t>
                      </a:r>
                      <a:r>
                        <a:rPr lang="en-IN" sz="1500" dirty="0">
                          <a:effectLst/>
                        </a:rPr>
                        <a:t> (</a:t>
                      </a:r>
                      <a:r>
                        <a:rPr lang="en-IN" sz="1500" dirty="0" err="1">
                          <a:effectLst/>
                        </a:rPr>
                        <a:t>gbtree</a:t>
                      </a:r>
                      <a:r>
                        <a:rPr lang="en-IN" sz="1500" dirty="0">
                          <a:effectLst/>
                        </a:rPr>
                        <a:t>) via </a:t>
                      </a:r>
                      <a:r>
                        <a:rPr lang="en-IN" sz="1500" dirty="0" err="1">
                          <a:effectLst/>
                        </a:rPr>
                        <a:t>PyCaret</a:t>
                      </a:r>
                      <a:r>
                        <a:rPr lang="en-IN" sz="1500" dirty="0">
                          <a:effectLst/>
                        </a:rPr>
                        <a:t> pipeline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509835869"/>
                  </a:ext>
                </a:extLst>
              </a:tr>
              <a:tr h="131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effectLst/>
                        </a:rPr>
                        <a:t>Features</a:t>
                      </a:r>
                      <a:endParaRPr lang="en-IN" sz="15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solidFill>
                            <a:srgbClr val="3B3B3B"/>
                          </a:solidFill>
                          <a:effectLst/>
                        </a:rPr>
                        <a:t>chronic_flag</a:t>
                      </a:r>
                      <a:r>
                        <a:rPr lang="en-IN" sz="1500">
                          <a:effectLst/>
                        </a:rPr>
                        <a:t>, </a:t>
                      </a:r>
                      <a:r>
                        <a:rPr lang="en-IN" sz="1500">
                          <a:solidFill>
                            <a:srgbClr val="3B3B3B"/>
                          </a:solidFill>
                          <a:effectLst/>
                        </a:rPr>
                        <a:t>gender</a:t>
                      </a:r>
                      <a:r>
                        <a:rPr lang="en-IN" sz="1500">
                          <a:effectLst/>
                        </a:rPr>
                        <a:t>, </a:t>
                      </a:r>
                      <a:r>
                        <a:rPr lang="en-IN" sz="1500">
                          <a:solidFill>
                            <a:srgbClr val="3B3B3B"/>
                          </a:solidFill>
                          <a:effectLst/>
                        </a:rPr>
                        <a:t>visit_frequency</a:t>
                      </a:r>
                      <a:r>
                        <a:rPr lang="en-IN" sz="1500">
                          <a:effectLst/>
                        </a:rPr>
                        <a:t> (3 features — all available at check-in)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922471201"/>
                  </a:ext>
                </a:extLst>
              </a:tr>
              <a:tr h="131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effectLst/>
                        </a:rPr>
                        <a:t>Best Macro F1</a:t>
                      </a:r>
                      <a:endParaRPr lang="en-IN" sz="15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effectLst/>
                        </a:rPr>
                        <a:t>0.3246</a:t>
                      </a:r>
                      <a:r>
                        <a:rPr lang="en-IN" sz="1500">
                          <a:effectLst/>
                        </a:rPr>
                        <a:t> (best among all model variants tested)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551436180"/>
                  </a:ext>
                </a:extLst>
              </a:tr>
              <a:tr h="230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effectLst/>
                        </a:rPr>
                        <a:t>Why this model?</a:t>
                      </a:r>
                      <a:endParaRPr lang="en-IN" sz="15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</a:rPr>
                        <a:t>Highest Macro F1 ensures High and Medium risk patients are identified, not just the majority Low class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761711545"/>
                  </a:ext>
                </a:extLst>
              </a:tr>
              <a:tr h="131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effectLst/>
                        </a:rPr>
                        <a:t>Training approach</a:t>
                      </a:r>
                      <a:endParaRPr lang="en-IN" sz="15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</a:rPr>
                        <a:t>Time-based split, SMOTE for class balancing, </a:t>
                      </a:r>
                      <a:r>
                        <a:rPr lang="en-IN" sz="1500" dirty="0" err="1">
                          <a:effectLst/>
                        </a:rPr>
                        <a:t>PyCaret</a:t>
                      </a:r>
                      <a:r>
                        <a:rPr lang="en-IN" sz="1500" dirty="0">
                          <a:effectLst/>
                        </a:rPr>
                        <a:t>-optimized hyperparameters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655366257"/>
                  </a:ext>
                </a:extLst>
              </a:tr>
              <a:tr h="131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effectLst/>
                        </a:rPr>
                        <a:t>Key hyperparameters</a:t>
                      </a:r>
                      <a:endParaRPr lang="en-IN" sz="15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>
                          <a:effectLst/>
                        </a:rPr>
                        <a:t>learning_rate</a:t>
                      </a:r>
                      <a:r>
                        <a:rPr lang="en-IN" sz="1500" dirty="0">
                          <a:effectLst/>
                        </a:rPr>
                        <a:t>=0.15, </a:t>
                      </a:r>
                      <a:r>
                        <a:rPr lang="en-IN" sz="1500" dirty="0" err="1">
                          <a:effectLst/>
                        </a:rPr>
                        <a:t>max_depth</a:t>
                      </a:r>
                      <a:r>
                        <a:rPr lang="en-IN" sz="1500" dirty="0">
                          <a:effectLst/>
                        </a:rPr>
                        <a:t>=8, </a:t>
                      </a:r>
                      <a:r>
                        <a:rPr lang="en-IN" sz="1500" dirty="0" err="1">
                          <a:effectLst/>
                        </a:rPr>
                        <a:t>n_estimators</a:t>
                      </a:r>
                      <a:r>
                        <a:rPr lang="en-IN" sz="1500" dirty="0">
                          <a:effectLst/>
                        </a:rPr>
                        <a:t>=10, subsample=0.5, </a:t>
                      </a:r>
                      <a:r>
                        <a:rPr lang="en-IN" sz="1500" dirty="0" err="1">
                          <a:effectLst/>
                        </a:rPr>
                        <a:t>reg_alpha</a:t>
                      </a:r>
                      <a:r>
                        <a:rPr lang="en-IN" sz="1500" dirty="0">
                          <a:effectLst/>
                        </a:rPr>
                        <a:t>=2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19423312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FE16CE8-407F-8BE8-EBD8-CF3DD54FC1D4}"/>
              </a:ext>
            </a:extLst>
          </p:cNvPr>
          <p:cNvSpPr txBox="1"/>
          <p:nvPr/>
        </p:nvSpPr>
        <p:spPr>
          <a:xfrm>
            <a:off x="474305" y="4717987"/>
            <a:ext cx="109743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i="0" dirty="0">
                <a:solidFill>
                  <a:srgbClr val="3B3B3B"/>
                </a:solidFill>
                <a:effectLst/>
                <a:latin typeface="-apple-system"/>
              </a:rPr>
              <a:t>Models benchmarked:</a:t>
            </a:r>
            <a:r>
              <a:rPr lang="en-IN" sz="1500" b="0" i="0" dirty="0">
                <a:solidFill>
                  <a:srgbClr val="3B3B3B"/>
                </a:solidFill>
                <a:effectLst/>
                <a:latin typeface="-apple-system"/>
              </a:rPr>
              <a:t> Logistic Regression (baseline), </a:t>
            </a:r>
            <a:r>
              <a:rPr lang="en-IN" sz="1500" b="0" i="0" dirty="0" err="1">
                <a:solidFill>
                  <a:srgbClr val="3B3B3B"/>
                </a:solidFill>
                <a:effectLst/>
                <a:latin typeface="-apple-system"/>
              </a:rPr>
              <a:t>XGBoost</a:t>
            </a:r>
            <a:r>
              <a:rPr lang="en-IN" sz="1500" b="0" i="0" dirty="0">
                <a:solidFill>
                  <a:srgbClr val="3B3B3B"/>
                </a:solidFill>
                <a:effectLst/>
                <a:latin typeface="-apple-system"/>
              </a:rPr>
              <a:t> (default), Random Forest, </a:t>
            </a:r>
            <a:r>
              <a:rPr lang="en-IN" sz="1500" b="0" i="0" dirty="0" err="1">
                <a:solidFill>
                  <a:srgbClr val="3B3B3B"/>
                </a:solidFill>
                <a:effectLst/>
                <a:latin typeface="-apple-system"/>
              </a:rPr>
              <a:t>XGBoost</a:t>
            </a:r>
            <a:r>
              <a:rPr lang="en-IN" sz="1500" b="0" i="0" dirty="0">
                <a:solidFill>
                  <a:srgbClr val="3B3B3B"/>
                </a:solidFill>
                <a:effectLst/>
                <a:latin typeface="-apple-system"/>
              </a:rPr>
              <a:t> (</a:t>
            </a:r>
            <a:r>
              <a:rPr lang="en-IN" sz="1500" b="0" i="0" dirty="0" err="1">
                <a:solidFill>
                  <a:srgbClr val="3B3B3B"/>
                </a:solidFill>
                <a:effectLst/>
                <a:latin typeface="-apple-system"/>
              </a:rPr>
              <a:t>GridSearchCV</a:t>
            </a:r>
            <a:r>
              <a:rPr lang="en-IN" sz="1500" b="0" i="0" dirty="0">
                <a:solidFill>
                  <a:srgbClr val="3B3B3B"/>
                </a:solidFill>
                <a:effectLst/>
                <a:latin typeface="-apple-system"/>
              </a:rPr>
              <a:t> tuned), all with and without SMOTE, demographic-only experiments — </a:t>
            </a:r>
            <a:r>
              <a:rPr lang="en-IN" sz="1500" b="0" i="0" dirty="0" err="1">
                <a:solidFill>
                  <a:srgbClr val="3B3B3B"/>
                </a:solidFill>
                <a:effectLst/>
                <a:latin typeface="-apple-system"/>
              </a:rPr>
              <a:t>PyCaret</a:t>
            </a:r>
            <a:r>
              <a:rPr lang="en-IN" sz="1500" b="0" i="0" dirty="0">
                <a:solidFill>
                  <a:srgbClr val="3B3B3B"/>
                </a:solidFill>
                <a:effectLst/>
                <a:latin typeface="-apple-system"/>
              </a:rPr>
              <a:t> </a:t>
            </a:r>
            <a:r>
              <a:rPr lang="en-IN" sz="1500" b="0" i="0" dirty="0" err="1">
                <a:solidFill>
                  <a:srgbClr val="3B3B3B"/>
                </a:solidFill>
                <a:effectLst/>
                <a:latin typeface="-apple-system"/>
              </a:rPr>
              <a:t>XGBoost</a:t>
            </a:r>
            <a:r>
              <a:rPr lang="en-IN" sz="1500" b="0" i="0" dirty="0">
                <a:solidFill>
                  <a:srgbClr val="3B3B3B"/>
                </a:solidFill>
                <a:effectLst/>
                <a:latin typeface="-apple-system"/>
              </a:rPr>
              <a:t> selected as production model.</a:t>
            </a:r>
            <a:endParaRPr lang="en-US" sz="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4C28E8-1019-510C-1427-5B3169B89929}"/>
              </a:ext>
            </a:extLst>
          </p:cNvPr>
          <p:cNvSpPr txBox="1"/>
          <p:nvPr/>
        </p:nvSpPr>
        <p:spPr>
          <a:xfrm>
            <a:off x="474304" y="5271985"/>
            <a:ext cx="109743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N" sz="1500" b="1" i="0" dirty="0">
                <a:solidFill>
                  <a:srgbClr val="3B3B3B"/>
                </a:solidFill>
                <a:effectLst/>
                <a:latin typeface="-apple-system"/>
              </a:rPr>
              <a:t>Business translation:</a:t>
            </a:r>
            <a:endParaRPr lang="en-IN" sz="1500" dirty="0">
              <a:solidFill>
                <a:srgbClr val="3B3B3B"/>
              </a:solidFill>
              <a:latin typeface="-apple-system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500" b="0" i="0" dirty="0">
                <a:solidFill>
                  <a:srgbClr val="3B3B3B"/>
                </a:solidFill>
                <a:effectLst/>
                <a:latin typeface="-apple-system"/>
              </a:rPr>
              <a:t>Enables </a:t>
            </a:r>
            <a:r>
              <a:rPr lang="en-IN" sz="1500" b="1" i="0" dirty="0">
                <a:solidFill>
                  <a:srgbClr val="3B3B3B"/>
                </a:solidFill>
                <a:effectLst/>
                <a:latin typeface="-apple-system"/>
              </a:rPr>
              <a:t>automated triage prioritization</a:t>
            </a:r>
            <a:r>
              <a:rPr lang="en-IN" sz="1500" b="0" i="0" dirty="0">
                <a:solidFill>
                  <a:srgbClr val="3B3B3B"/>
                </a:solidFill>
                <a:effectLst/>
                <a:latin typeface="-apple-system"/>
              </a:rPr>
              <a:t> — High-risk patients flagged immediately at check-in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500" b="0" i="0" dirty="0">
                <a:solidFill>
                  <a:srgbClr val="3B3B3B"/>
                </a:solidFill>
                <a:effectLst/>
                <a:latin typeface="-apple-system"/>
              </a:rPr>
              <a:t>Lean 3-feature design means </a:t>
            </a:r>
            <a:r>
              <a:rPr lang="en-IN" sz="1500" b="1" i="0" dirty="0">
                <a:solidFill>
                  <a:srgbClr val="3B3B3B"/>
                </a:solidFill>
                <a:effectLst/>
                <a:latin typeface="-apple-system"/>
              </a:rPr>
              <a:t>zero additional data collection</a:t>
            </a:r>
            <a:r>
              <a:rPr lang="en-IN" sz="1500" b="0" i="0" dirty="0">
                <a:solidFill>
                  <a:srgbClr val="3B3B3B"/>
                </a:solidFill>
                <a:effectLst/>
                <a:latin typeface="-apple-system"/>
              </a:rPr>
              <a:t> needed at point of care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500" b="0" i="0" dirty="0">
                <a:solidFill>
                  <a:srgbClr val="3B3B3B"/>
                </a:solidFill>
                <a:effectLst/>
                <a:latin typeface="-apple-system"/>
              </a:rPr>
              <a:t>SHAP explainability allows clinical staff to understand </a:t>
            </a:r>
            <a:r>
              <a:rPr lang="en-IN" sz="1500" b="0" i="1" dirty="0">
                <a:solidFill>
                  <a:srgbClr val="3B3B3B"/>
                </a:solidFill>
                <a:effectLst/>
                <a:latin typeface="-apple-system"/>
              </a:rPr>
              <a:t>why</a:t>
            </a:r>
            <a:r>
              <a:rPr lang="en-IN" sz="1500" b="0" i="0" dirty="0">
                <a:solidFill>
                  <a:srgbClr val="3B3B3B"/>
                </a:solidFill>
                <a:effectLst/>
                <a:latin typeface="-apple-system"/>
              </a:rPr>
              <a:t> a patient is flagged</a:t>
            </a:r>
          </a:p>
        </p:txBody>
      </p:sp>
    </p:spTree>
    <p:extLst>
      <p:ext uri="{BB962C8B-B14F-4D97-AF65-F5344CB8AC3E}">
        <p14:creationId xmlns:p14="http://schemas.microsoft.com/office/powerpoint/2010/main" val="1304976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80754-4317-460A-949D-6ED65832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8B66-D59F-CEDA-15B9-41D930AE5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in business terms</a:t>
            </a:r>
            <a:br>
              <a:rPr lang="en-US" dirty="0"/>
            </a:br>
            <a:r>
              <a:rPr lang="en-US" dirty="0"/>
              <a:t>Model 2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2571BA8-459B-FD3E-33EA-AA263CA39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571"/>
            <a:ext cx="10515600" cy="78377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Model 2: Claim Outcome Classification</a:t>
            </a:r>
          </a:p>
          <a:p>
            <a:pPr marL="0" indent="0" algn="ctr">
              <a:buNone/>
            </a:pPr>
            <a:r>
              <a:rPr lang="en-IN" sz="1500" b="1" dirty="0"/>
              <a:t>Purpose:</a:t>
            </a:r>
            <a:r>
              <a:rPr lang="en-IN" sz="1500" dirty="0"/>
              <a:t> Predict claim status (Paid / Pending / Rejected) before submission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A6A119F-3132-BED6-7EFA-295A67DAF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136997"/>
              </p:ext>
            </p:extLst>
          </p:nvPr>
        </p:nvGraphicFramePr>
        <p:xfrm>
          <a:off x="474305" y="2239342"/>
          <a:ext cx="10974355" cy="1981200"/>
        </p:xfrm>
        <a:graphic>
          <a:graphicData uri="http://schemas.openxmlformats.org/drawingml/2006/table">
            <a:tbl>
              <a:tblPr firstRow="1" bandCol="1">
                <a:tableStyleId>{B301B821-A1FF-4177-AEE7-76D212191A09}</a:tableStyleId>
              </a:tblPr>
              <a:tblGrid>
                <a:gridCol w="3019488">
                  <a:extLst>
                    <a:ext uri="{9D8B030D-6E8A-4147-A177-3AD203B41FA5}">
                      <a16:colId xmlns:a16="http://schemas.microsoft.com/office/drawing/2014/main" val="2782036426"/>
                    </a:ext>
                  </a:extLst>
                </a:gridCol>
                <a:gridCol w="7954867">
                  <a:extLst>
                    <a:ext uri="{9D8B030D-6E8A-4147-A177-3AD203B41FA5}">
                      <a16:colId xmlns:a16="http://schemas.microsoft.com/office/drawing/2014/main" val="835382556"/>
                    </a:ext>
                  </a:extLst>
                </a:gridCol>
              </a:tblGrid>
              <a:tr h="1318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>
                          <a:effectLst/>
                        </a:rPr>
                        <a:t>Attribute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dirty="0">
                          <a:effectLst/>
                        </a:rPr>
                        <a:t>Detail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988766452"/>
                  </a:ext>
                </a:extLst>
              </a:tr>
              <a:tr h="131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effectLst/>
                        </a:rPr>
                        <a:t>Algorithm</a:t>
                      </a:r>
                      <a:endParaRPr lang="en-IN" sz="15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>
                          <a:effectLst/>
                        </a:rPr>
                        <a:t>PyCaret</a:t>
                      </a:r>
                      <a:r>
                        <a:rPr lang="en-IN" sz="1500" dirty="0">
                          <a:effectLst/>
                        </a:rPr>
                        <a:t> auto-selected best classifier (tuned on MCC)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509835869"/>
                  </a:ext>
                </a:extLst>
              </a:tr>
              <a:tr h="131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effectLst/>
                        </a:rPr>
                        <a:t>Features</a:t>
                      </a:r>
                      <a:endParaRPr lang="en-IN" sz="15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>
                          <a:effectLst/>
                        </a:rPr>
                        <a:t>12 inputs: age, gender, city, </a:t>
                      </a:r>
                      <a:r>
                        <a:rPr lang="en-IN" sz="1500" dirty="0" err="1">
                          <a:effectLst/>
                        </a:rPr>
                        <a:t>insurance_provider</a:t>
                      </a:r>
                      <a:r>
                        <a:rPr lang="en-IN" sz="1500" dirty="0">
                          <a:effectLst/>
                        </a:rPr>
                        <a:t>, </a:t>
                      </a:r>
                      <a:r>
                        <a:rPr lang="en-IN" sz="1500" dirty="0" err="1">
                          <a:effectLst/>
                        </a:rPr>
                        <a:t>chronic_flag</a:t>
                      </a:r>
                      <a:r>
                        <a:rPr lang="en-IN" sz="1500" dirty="0">
                          <a:effectLst/>
                        </a:rPr>
                        <a:t>, department, </a:t>
                      </a:r>
                      <a:r>
                        <a:rPr lang="en-IN" sz="1500" dirty="0" err="1">
                          <a:effectLst/>
                        </a:rPr>
                        <a:t>visit_type</a:t>
                      </a:r>
                      <a:r>
                        <a:rPr lang="en-IN" sz="1500" dirty="0">
                          <a:effectLst/>
                        </a:rPr>
                        <a:t>, </a:t>
                      </a:r>
                      <a:r>
                        <a:rPr lang="en-IN" sz="1500" dirty="0" err="1">
                          <a:effectLst/>
                        </a:rPr>
                        <a:t>length_of_stay_hours</a:t>
                      </a:r>
                      <a:r>
                        <a:rPr lang="en-IN" sz="1500" dirty="0">
                          <a:effectLst/>
                        </a:rPr>
                        <a:t>, </a:t>
                      </a:r>
                      <a:r>
                        <a:rPr lang="en-IN" sz="1500" dirty="0" err="1">
                          <a:effectLst/>
                        </a:rPr>
                        <a:t>billed_amount</a:t>
                      </a:r>
                      <a:r>
                        <a:rPr lang="en-IN" sz="1500" dirty="0">
                          <a:effectLst/>
                        </a:rPr>
                        <a:t>, </a:t>
                      </a:r>
                      <a:r>
                        <a:rPr lang="en-IN" sz="1500" dirty="0" err="1">
                          <a:effectLst/>
                        </a:rPr>
                        <a:t>payment_days</a:t>
                      </a:r>
                      <a:r>
                        <a:rPr lang="en-IN" sz="1500" dirty="0">
                          <a:effectLst/>
                        </a:rPr>
                        <a:t>, </a:t>
                      </a:r>
                      <a:r>
                        <a:rPr lang="en-IN" sz="1500" dirty="0" err="1">
                          <a:effectLst/>
                        </a:rPr>
                        <a:t>visit_frequency</a:t>
                      </a:r>
                      <a:r>
                        <a:rPr lang="en-IN" sz="1500" dirty="0">
                          <a:effectLst/>
                        </a:rPr>
                        <a:t>, </a:t>
                      </a:r>
                      <a:r>
                        <a:rPr lang="en-IN" sz="1500" dirty="0" err="1">
                          <a:effectLst/>
                        </a:rPr>
                        <a:t>lag_time</a:t>
                      </a:r>
                      <a:endParaRPr lang="en-IN" sz="15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922471201"/>
                  </a:ext>
                </a:extLst>
              </a:tr>
              <a:tr h="1318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dirty="0">
                          <a:effectLst/>
                        </a:rPr>
                        <a:t>Optimization metric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dirty="0">
                          <a:effectLst/>
                        </a:rPr>
                        <a:t>Matthews Correlation Coefficient (MCC) — penalizes majority-class bias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551436180"/>
                  </a:ext>
                </a:extLst>
              </a:tr>
              <a:tr h="2307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dirty="0">
                          <a:effectLst/>
                        </a:rPr>
                        <a:t>Training approach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</a:rPr>
                        <a:t>Time-based split, SMOTE for Pending/Rejected oversampling, </a:t>
                      </a:r>
                      <a:r>
                        <a:rPr lang="en-IN" sz="1500" dirty="0" err="1">
                          <a:effectLst/>
                        </a:rPr>
                        <a:t>PyCaret</a:t>
                      </a:r>
                      <a:r>
                        <a:rPr lang="en-IN" sz="1500" dirty="0">
                          <a:effectLst/>
                        </a:rPr>
                        <a:t> feature selection (top 80%), multicollinearity removal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76171154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59C1A7E-8B24-8AE5-0719-F09553D3297B}"/>
              </a:ext>
            </a:extLst>
          </p:cNvPr>
          <p:cNvSpPr txBox="1"/>
          <p:nvPr/>
        </p:nvSpPr>
        <p:spPr>
          <a:xfrm>
            <a:off x="474304" y="4663765"/>
            <a:ext cx="109743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IN" sz="1500" b="1" i="0" dirty="0">
                <a:solidFill>
                  <a:srgbClr val="3B3B3B"/>
                </a:solidFill>
                <a:effectLst/>
                <a:latin typeface="-apple-system"/>
              </a:rPr>
              <a:t>Business translation</a:t>
            </a:r>
            <a:r>
              <a:rPr lang="en-IN" sz="1500" b="1" dirty="0">
                <a:solidFill>
                  <a:srgbClr val="3B3B3B"/>
                </a:solidFill>
                <a:latin typeface="-apple-system"/>
              </a:rPr>
              <a:t>: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3B3B3B"/>
                </a:solidFill>
                <a:latin typeface="-apple-system"/>
              </a:rPr>
              <a:t>Pre-submission claim screening — flag likely Rejected claims for review before filing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3B3B3B"/>
                </a:solidFill>
                <a:latin typeface="-apple-system"/>
              </a:rPr>
              <a:t>Identify which provider/department/amount combinations trigger rejections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rgbClr val="3B3B3B"/>
                </a:solidFill>
                <a:latin typeface="-apple-system"/>
              </a:rPr>
              <a:t>Reduce rejection-related rework and appeals overhead</a:t>
            </a:r>
          </a:p>
        </p:txBody>
      </p:sp>
    </p:spTree>
    <p:extLst>
      <p:ext uri="{BB962C8B-B14F-4D97-AF65-F5344CB8AC3E}">
        <p14:creationId xmlns:p14="http://schemas.microsoft.com/office/powerpoint/2010/main" val="1318961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C0ED-6F1D-D693-86D1-9516657A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impact and ROI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759A8-3D49-B62A-DC8C-801810950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273" y="1455576"/>
            <a:ext cx="11038394" cy="12129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/>
              <a:t>Revenue Leakage Quantified from the dataset (25,000 billing records):</a:t>
            </a:r>
          </a:p>
          <a:p>
            <a:r>
              <a:rPr lang="en-US" sz="1600" dirty="0"/>
              <a:t>Rejected claims (~20% of claims) represent direct revenue loss </a:t>
            </a:r>
          </a:p>
          <a:p>
            <a:r>
              <a:rPr lang="en-US" sz="1600" dirty="0"/>
              <a:t>Pending claims (~15%) create cash flow delays and administrative overhead</a:t>
            </a:r>
          </a:p>
          <a:p>
            <a:r>
              <a:rPr lang="en-US" sz="1600" dirty="0"/>
              <a:t>High-bill-zero-approval visits flagged as potential billing errors</a:t>
            </a:r>
          </a:p>
          <a:p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82B9A4-1E03-DCBB-528E-81F7BAADA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370141"/>
              </p:ext>
            </p:extLst>
          </p:nvPr>
        </p:nvGraphicFramePr>
        <p:xfrm>
          <a:off x="205273" y="2798400"/>
          <a:ext cx="11644605" cy="2355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4086">
                  <a:extLst>
                    <a:ext uri="{9D8B030D-6E8A-4147-A177-3AD203B41FA5}">
                      <a16:colId xmlns:a16="http://schemas.microsoft.com/office/drawing/2014/main" val="1240199386"/>
                    </a:ext>
                  </a:extLst>
                </a:gridCol>
                <a:gridCol w="4877809">
                  <a:extLst>
                    <a:ext uri="{9D8B030D-6E8A-4147-A177-3AD203B41FA5}">
                      <a16:colId xmlns:a16="http://schemas.microsoft.com/office/drawing/2014/main" val="4135460791"/>
                    </a:ext>
                  </a:extLst>
                </a:gridCol>
                <a:gridCol w="4242710">
                  <a:extLst>
                    <a:ext uri="{9D8B030D-6E8A-4147-A177-3AD203B41FA5}">
                      <a16:colId xmlns:a16="http://schemas.microsoft.com/office/drawing/2014/main" val="3329099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Impact Area</a:t>
                      </a:r>
                    </a:p>
                  </a:txBody>
                  <a:tcPr marL="54392" marR="5439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Mechanism</a:t>
                      </a:r>
                    </a:p>
                  </a:txBody>
                  <a:tcPr marL="54392" marR="54392" marT="36261" marB="3626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Estimated Benefit</a:t>
                      </a:r>
                    </a:p>
                  </a:txBody>
                  <a:tcPr marL="54392" marR="54392" marT="36261" marB="36261" anchor="ctr"/>
                </a:tc>
                <a:extLst>
                  <a:ext uri="{0D108BD9-81ED-4DB2-BD59-A6C34878D82A}">
                    <a16:rowId xmlns:a16="http://schemas.microsoft.com/office/drawing/2014/main" val="142704920"/>
                  </a:ext>
                </a:extLst>
              </a:tr>
              <a:tr h="156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Claim rejection reduction</a:t>
                      </a:r>
                      <a:endParaRPr lang="en-IN" sz="1400">
                        <a:effectLst/>
                      </a:endParaRPr>
                    </a:p>
                  </a:txBody>
                  <a:tcPr marL="54392" marR="5439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Pre-screen claims before submission; correct documentation, coding, or submission timing for likely-rejected claims</a:t>
                      </a:r>
                    </a:p>
                  </a:txBody>
                  <a:tcPr marL="54392" marR="5439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Even a 10-20% reduction in rejections directly recovers revenue</a:t>
                      </a:r>
                    </a:p>
                  </a:txBody>
                  <a:tcPr marL="54392" marR="54392" marT="36261" marB="36261" anchor="ctr"/>
                </a:tc>
                <a:extLst>
                  <a:ext uri="{0D108BD9-81ED-4DB2-BD59-A6C34878D82A}">
                    <a16:rowId xmlns:a16="http://schemas.microsoft.com/office/drawing/2014/main" val="2679822614"/>
                  </a:ext>
                </a:extLst>
              </a:tr>
              <a:tr h="109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Faster payment cycles</a:t>
                      </a:r>
                      <a:endParaRPr lang="en-IN" sz="1400">
                        <a:effectLst/>
                      </a:endParaRPr>
                    </a:p>
                  </a:txBody>
                  <a:tcPr marL="54392" marR="5439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Predict Pending claims → proactively follow up with insurers</a:t>
                      </a:r>
                    </a:p>
                  </a:txBody>
                  <a:tcPr marL="54392" marR="5439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Reduced days-sales-outstanding (DSO); improved cash flow</a:t>
                      </a:r>
                    </a:p>
                  </a:txBody>
                  <a:tcPr marL="54392" marR="54392" marT="36261" marB="36261" anchor="ctr"/>
                </a:tc>
                <a:extLst>
                  <a:ext uri="{0D108BD9-81ED-4DB2-BD59-A6C34878D82A}">
                    <a16:rowId xmlns:a16="http://schemas.microsoft.com/office/drawing/2014/main" val="1742293824"/>
                  </a:ext>
                </a:extLst>
              </a:tr>
              <a:tr h="1097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Triage efficiency</a:t>
                      </a:r>
                      <a:endParaRPr lang="en-IN" sz="1400">
                        <a:effectLst/>
                      </a:endParaRPr>
                    </a:p>
                  </a:txBody>
                  <a:tcPr marL="54392" marR="5439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Auto-classify risk at check-in → prioritize High-risk patients</a:t>
                      </a:r>
                    </a:p>
                  </a:txBody>
                  <a:tcPr marL="54392" marR="5439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Reduced adverse events, shorter ED wait times, better resource utilization</a:t>
                      </a:r>
                    </a:p>
                  </a:txBody>
                  <a:tcPr marL="54392" marR="54392" marT="36261" marB="36261" anchor="ctr"/>
                </a:tc>
                <a:extLst>
                  <a:ext uri="{0D108BD9-81ED-4DB2-BD59-A6C34878D82A}">
                    <a16:rowId xmlns:a16="http://schemas.microsoft.com/office/drawing/2014/main" val="1855876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Staff productivity</a:t>
                      </a:r>
                      <a:endParaRPr lang="en-IN" sz="1400">
                        <a:effectLst/>
                      </a:endParaRPr>
                    </a:p>
                  </a:txBody>
                  <a:tcPr marL="54392" marR="5439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Automated risk scoring replaces manual chart review</a:t>
                      </a:r>
                    </a:p>
                  </a:txBody>
                  <a:tcPr marL="54392" marR="5439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Nurse/admin time redirected to patient care</a:t>
                      </a:r>
                    </a:p>
                  </a:txBody>
                  <a:tcPr marL="54392" marR="54392" marT="36261" marB="36261" anchor="ctr"/>
                </a:tc>
                <a:extLst>
                  <a:ext uri="{0D108BD9-81ED-4DB2-BD59-A6C34878D82A}">
                    <a16:rowId xmlns:a16="http://schemas.microsoft.com/office/drawing/2014/main" val="3671236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Compliance cost avoidance</a:t>
                      </a:r>
                      <a:endParaRPr lang="en-IN" sz="1400">
                        <a:effectLst/>
                      </a:endParaRPr>
                    </a:p>
                  </a:txBody>
                  <a:tcPr marL="54392" marR="5439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Audit trail, SHAP explainability, validated inputs</a:t>
                      </a:r>
                    </a:p>
                  </a:txBody>
                  <a:tcPr marL="54392" marR="5439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Reduces regulatory risk and audit preparation effort</a:t>
                      </a:r>
                    </a:p>
                  </a:txBody>
                  <a:tcPr marL="54392" marR="54392" marT="36261" marB="36261" anchor="ctr"/>
                </a:tc>
                <a:extLst>
                  <a:ext uri="{0D108BD9-81ED-4DB2-BD59-A6C34878D82A}">
                    <a16:rowId xmlns:a16="http://schemas.microsoft.com/office/drawing/2014/main" val="24356212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36D1555-7154-5412-157C-AE94037C5535}"/>
              </a:ext>
            </a:extLst>
          </p:cNvPr>
          <p:cNvSpPr txBox="1"/>
          <p:nvPr/>
        </p:nvSpPr>
        <p:spPr>
          <a:xfrm>
            <a:off x="205272" y="5245821"/>
            <a:ext cx="116446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Cost of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Infrastructure: Single Docker container, 1 worker process — minimal compute cost — auto-scale as required by visit patterns of 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Integration: REST API with standard JSON — integrates with any EMR/billing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Maintenance: Periodic retraining when drift detected (monthly/quarterly cadence)</a:t>
            </a:r>
          </a:p>
        </p:txBody>
      </p:sp>
    </p:spTree>
    <p:extLst>
      <p:ext uri="{BB962C8B-B14F-4D97-AF65-F5344CB8AC3E}">
        <p14:creationId xmlns:p14="http://schemas.microsoft.com/office/powerpoint/2010/main" val="937167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DB9B-A58A-86B9-E741-B1AD24DCA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and scaling strategy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2FC9467-CEA1-643B-B215-B5CBDE2BF5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985334"/>
              </p:ext>
            </p:extLst>
          </p:nvPr>
        </p:nvGraphicFramePr>
        <p:xfrm>
          <a:off x="121298" y="1830653"/>
          <a:ext cx="11840547" cy="2237536"/>
        </p:xfrm>
        <a:graphic>
          <a:graphicData uri="http://schemas.openxmlformats.org/drawingml/2006/table">
            <a:tbl>
              <a:tblPr firstRow="1" bandCol="1">
                <a:tableStyleId>{5C22544A-7EE6-4342-B048-85BDC9FD1C3A}</a:tableStyleId>
              </a:tblPr>
              <a:tblGrid>
                <a:gridCol w="1566938">
                  <a:extLst>
                    <a:ext uri="{9D8B030D-6E8A-4147-A177-3AD203B41FA5}">
                      <a16:colId xmlns:a16="http://schemas.microsoft.com/office/drawing/2014/main" val="1196682987"/>
                    </a:ext>
                  </a:extLst>
                </a:gridCol>
                <a:gridCol w="10273609">
                  <a:extLst>
                    <a:ext uri="{9D8B030D-6E8A-4147-A177-3AD203B41FA5}">
                      <a16:colId xmlns:a16="http://schemas.microsoft.com/office/drawing/2014/main" val="29557112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Component</a:t>
                      </a:r>
                    </a:p>
                  </a:txBody>
                  <a:tcPr marL="49749" marR="49749" marT="33166" marB="3316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Detail</a:t>
                      </a:r>
                    </a:p>
                  </a:txBody>
                  <a:tcPr marL="49749" marR="49749" marT="33166" marB="33166" anchor="ctr"/>
                </a:tc>
                <a:extLst>
                  <a:ext uri="{0D108BD9-81ED-4DB2-BD59-A6C34878D82A}">
                    <a16:rowId xmlns:a16="http://schemas.microsoft.com/office/drawing/2014/main" val="1665757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Framework</a:t>
                      </a:r>
                      <a:endParaRPr lang="en-IN" sz="1400">
                        <a:effectLst/>
                      </a:endParaRPr>
                    </a:p>
                  </a:txBody>
                  <a:tcPr marL="49749" marR="49749" marT="33166" marB="331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effectLst/>
                        </a:rPr>
                        <a:t>FastAPI</a:t>
                      </a:r>
                      <a:r>
                        <a:rPr lang="en-IN" sz="1400" dirty="0">
                          <a:effectLst/>
                        </a:rPr>
                        <a:t> + </a:t>
                      </a:r>
                      <a:r>
                        <a:rPr lang="en-IN" sz="1400" dirty="0" err="1">
                          <a:effectLst/>
                        </a:rPr>
                        <a:t>Uvicorn</a:t>
                      </a:r>
                      <a:endParaRPr lang="en-IN" sz="1400" dirty="0">
                        <a:effectLst/>
                      </a:endParaRPr>
                    </a:p>
                  </a:txBody>
                  <a:tcPr marL="49749" marR="49749" marT="33166" marB="33166" anchor="ctr"/>
                </a:tc>
                <a:extLst>
                  <a:ext uri="{0D108BD9-81ED-4DB2-BD59-A6C34878D82A}">
                    <a16:rowId xmlns:a16="http://schemas.microsoft.com/office/drawing/2014/main" val="284242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Containerization</a:t>
                      </a:r>
                      <a:endParaRPr lang="en-IN" sz="1400">
                        <a:effectLst/>
                      </a:endParaRPr>
                    </a:p>
                  </a:txBody>
                  <a:tcPr marL="49749" marR="49749" marT="33166" marB="331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Docker (Python 3.11-slim, libgomp for XGBoost)</a:t>
                      </a:r>
                    </a:p>
                  </a:txBody>
                  <a:tcPr marL="49749" marR="49749" marT="33166" marB="33166" anchor="ctr"/>
                </a:tc>
                <a:extLst>
                  <a:ext uri="{0D108BD9-81ED-4DB2-BD59-A6C34878D82A}">
                    <a16:rowId xmlns:a16="http://schemas.microsoft.com/office/drawing/2014/main" val="2033890977"/>
                  </a:ext>
                </a:extLst>
              </a:tr>
              <a:tr h="107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effectLst/>
                        </a:rPr>
                        <a:t>Endpoints</a:t>
                      </a:r>
                      <a:endParaRPr lang="en-IN" sz="1400" dirty="0">
                        <a:effectLst/>
                      </a:endParaRPr>
                    </a:p>
                  </a:txBody>
                  <a:tcPr marL="49749" marR="49749" marT="33166" marB="331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2 prediction endpoints, 3 health checks, 1 metadata endpoint, 1 web UI</a:t>
                      </a:r>
                    </a:p>
                  </a:txBody>
                  <a:tcPr marL="49749" marR="49749" marT="33166" marB="33166" anchor="ctr"/>
                </a:tc>
                <a:extLst>
                  <a:ext uri="{0D108BD9-81ED-4DB2-BD59-A6C34878D82A}">
                    <a16:rowId xmlns:a16="http://schemas.microsoft.com/office/drawing/2014/main" val="2414228991"/>
                  </a:ext>
                </a:extLst>
              </a:tr>
              <a:tr h="154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Input validation</a:t>
                      </a:r>
                      <a:endParaRPr lang="en-IN" sz="1400">
                        <a:effectLst/>
                      </a:endParaRPr>
                    </a:p>
                  </a:txBody>
                  <a:tcPr marL="49749" marR="49749" marT="33166" marB="331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Schema-based validation (validate.py) — catches missing fields, range violations, unseen categories; returns all errors at once</a:t>
                      </a:r>
                    </a:p>
                  </a:txBody>
                  <a:tcPr marL="49749" marR="49749" marT="33166" marB="33166" anchor="ctr"/>
                </a:tc>
                <a:extLst>
                  <a:ext uri="{0D108BD9-81ED-4DB2-BD59-A6C34878D82A}">
                    <a16:rowId xmlns:a16="http://schemas.microsoft.com/office/drawing/2014/main" val="3589060291"/>
                  </a:ext>
                </a:extLst>
              </a:tr>
              <a:tr h="154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Logging</a:t>
                      </a:r>
                      <a:endParaRPr lang="en-IN" sz="1400">
                        <a:effectLst/>
                      </a:endParaRPr>
                    </a:p>
                  </a:txBody>
                  <a:tcPr marL="49749" marR="49749" marT="33166" marB="331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Every prediction logged with UUID, model version, UTC timestamp, SHA-256 feature hash, prediction label, confidence score</a:t>
                      </a:r>
                    </a:p>
                  </a:txBody>
                  <a:tcPr marL="49749" marR="49749" marT="33166" marB="33166" anchor="ctr"/>
                </a:tc>
                <a:extLst>
                  <a:ext uri="{0D108BD9-81ED-4DB2-BD59-A6C34878D82A}">
                    <a16:rowId xmlns:a16="http://schemas.microsoft.com/office/drawing/2014/main" val="174892790"/>
                  </a:ext>
                </a:extLst>
              </a:tr>
              <a:tr h="1095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Privacy</a:t>
                      </a:r>
                      <a:endParaRPr lang="en-IN" sz="1400">
                        <a:effectLst/>
                      </a:endParaRPr>
                    </a:p>
                  </a:txBody>
                  <a:tcPr marL="49749" marR="49749" marT="33166" marB="331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No raw patient data in logs — only SHA-256 hashes; patient IDs are never accepted as API inputs</a:t>
                      </a:r>
                    </a:p>
                  </a:txBody>
                  <a:tcPr marL="49749" marR="49749" marT="33166" marB="33166" anchor="ctr"/>
                </a:tc>
                <a:extLst>
                  <a:ext uri="{0D108BD9-81ED-4DB2-BD59-A6C34878D82A}">
                    <a16:rowId xmlns:a16="http://schemas.microsoft.com/office/drawing/2014/main" val="1891278216"/>
                  </a:ext>
                </a:extLst>
              </a:tr>
              <a:tr h="154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UI</a:t>
                      </a:r>
                      <a:endParaRPr lang="en-IN" sz="1400">
                        <a:effectLst/>
                      </a:endParaRPr>
                    </a:p>
                  </a:txBody>
                  <a:tcPr marL="49749" marR="49749" marT="33166" marB="331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Built-in HTML/Bootstrap testing interface with dynamic form (loads valid categories from </a:t>
                      </a:r>
                      <a:r>
                        <a:rPr lang="en-IN" sz="1400" dirty="0">
                          <a:solidFill>
                            <a:srgbClr val="3B3B3B"/>
                          </a:solidFill>
                          <a:effectLst/>
                        </a:rPr>
                        <a:t>/metadata/claim-outcome</a:t>
                      </a:r>
                      <a:r>
                        <a:rPr lang="en-IN" sz="1400" dirty="0">
                          <a:effectLst/>
                        </a:rPr>
                        <a:t>)</a:t>
                      </a:r>
                    </a:p>
                  </a:txBody>
                  <a:tcPr marL="49749" marR="49749" marT="33166" marB="33166" anchor="ctr"/>
                </a:tc>
                <a:extLst>
                  <a:ext uri="{0D108BD9-81ED-4DB2-BD59-A6C34878D82A}">
                    <a16:rowId xmlns:a16="http://schemas.microsoft.com/office/drawing/2014/main" val="378953300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028F98-760C-B287-90C1-B9BF7A474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293278"/>
              </p:ext>
            </p:extLst>
          </p:nvPr>
        </p:nvGraphicFramePr>
        <p:xfrm>
          <a:off x="93305" y="4621157"/>
          <a:ext cx="11868539" cy="1737360"/>
        </p:xfrm>
        <a:graphic>
          <a:graphicData uri="http://schemas.openxmlformats.org/drawingml/2006/table">
            <a:tbl>
              <a:tblPr firstRow="1" bandCol="1">
                <a:tableStyleId>{5C22544A-7EE6-4342-B048-85BDC9FD1C3A}</a:tableStyleId>
              </a:tblPr>
              <a:tblGrid>
                <a:gridCol w="2140838">
                  <a:extLst>
                    <a:ext uri="{9D8B030D-6E8A-4147-A177-3AD203B41FA5}">
                      <a16:colId xmlns:a16="http://schemas.microsoft.com/office/drawing/2014/main" val="1020446579"/>
                    </a:ext>
                  </a:extLst>
                </a:gridCol>
                <a:gridCol w="9727701">
                  <a:extLst>
                    <a:ext uri="{9D8B030D-6E8A-4147-A177-3AD203B41FA5}">
                      <a16:colId xmlns:a16="http://schemas.microsoft.com/office/drawing/2014/main" val="3328778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Phase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Approach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087575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Current (v1.0)</a:t>
                      </a:r>
                      <a:endParaRPr lang="en-IN" sz="14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Single container, 1 worker — keeps RAM predictable (PyCaret models are large)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733295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Horizontal scale</a:t>
                      </a:r>
                      <a:endParaRPr lang="en-IN" sz="14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Add container replicas behind a load balancer (not more workers per container)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78640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Production readiness</a:t>
                      </a:r>
                      <a:endParaRPr lang="en-IN" sz="14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Health endpoints (</a:t>
                      </a:r>
                      <a:r>
                        <a:rPr lang="en-IN" sz="1400">
                          <a:solidFill>
                            <a:srgbClr val="3B3B3B"/>
                          </a:solidFill>
                          <a:effectLst/>
                        </a:rPr>
                        <a:t>/health</a:t>
                      </a:r>
                      <a:r>
                        <a:rPr lang="en-IN" sz="1400">
                          <a:effectLst/>
                        </a:rPr>
                        <a:t>, </a:t>
                      </a:r>
                      <a:r>
                        <a:rPr lang="en-IN" sz="1400">
                          <a:solidFill>
                            <a:srgbClr val="3B3B3B"/>
                          </a:solidFill>
                          <a:effectLst/>
                        </a:rPr>
                        <a:t>/health/patient-risk</a:t>
                      </a:r>
                      <a:r>
                        <a:rPr lang="en-IN" sz="1400">
                          <a:effectLst/>
                        </a:rPr>
                        <a:t>, </a:t>
                      </a:r>
                      <a:r>
                        <a:rPr lang="en-IN" sz="1400">
                          <a:solidFill>
                            <a:srgbClr val="3B3B3B"/>
                          </a:solidFill>
                          <a:effectLst/>
                        </a:rPr>
                        <a:t>/health/claim-outcome</a:t>
                      </a:r>
                      <a:r>
                        <a:rPr lang="en-IN" sz="1400">
                          <a:effectLst/>
                        </a:rPr>
                        <a:t>) enable orchestrator liveness/readiness probes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14729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Model updates</a:t>
                      </a:r>
                      <a:endParaRPr lang="en-IN" sz="14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Swap </a:t>
                      </a:r>
                      <a:r>
                        <a:rPr lang="en-IN" sz="1400">
                          <a:solidFill>
                            <a:srgbClr val="3B3B3B"/>
                          </a:solidFill>
                          <a:effectLst/>
                        </a:rPr>
                        <a:t>.pkl</a:t>
                      </a:r>
                      <a:r>
                        <a:rPr lang="en-IN" sz="1400">
                          <a:effectLst/>
                        </a:rPr>
                        <a:t> file → update version string in </a:t>
                      </a:r>
                      <a:r>
                        <a:rPr lang="en-IN" sz="1400">
                          <a:solidFill>
                            <a:srgbClr val="3B3B3B"/>
                          </a:solidFill>
                          <a:effectLst/>
                        </a:rPr>
                        <a:t>Api.py</a:t>
                      </a:r>
                      <a:r>
                        <a:rPr lang="en-IN" sz="1400">
                          <a:effectLst/>
                        </a:rPr>
                        <a:t> → restart container (zero-code-change deployment)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7702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effectLst/>
                        </a:rPr>
                        <a:t>Schema evolution</a:t>
                      </a:r>
                      <a:endParaRPr lang="en-IN" sz="140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solidFill>
                            <a:srgbClr val="3B3B3B"/>
                          </a:solidFill>
                          <a:effectLst/>
                        </a:rPr>
                        <a:t>feature_schema.json</a:t>
                      </a:r>
                      <a:r>
                        <a:rPr lang="en-IN" sz="1400" dirty="0">
                          <a:effectLst/>
                        </a:rPr>
                        <a:t> versioned alongside models; validation layer auto-enforces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7337593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39B76EA-E2DB-12C3-F7EA-DD20C4C9BD82}"/>
              </a:ext>
            </a:extLst>
          </p:cNvPr>
          <p:cNvSpPr txBox="1"/>
          <p:nvPr/>
        </p:nvSpPr>
        <p:spPr>
          <a:xfrm>
            <a:off x="121298" y="1461321"/>
            <a:ext cx="2213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Current Deployment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CEAAE4-E65B-147E-3A5C-03BE026708BC}"/>
              </a:ext>
            </a:extLst>
          </p:cNvPr>
          <p:cNvSpPr txBox="1"/>
          <p:nvPr/>
        </p:nvSpPr>
        <p:spPr>
          <a:xfrm>
            <a:off x="93305" y="4249871"/>
            <a:ext cx="1768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Scaling Strategy</a:t>
            </a:r>
          </a:p>
        </p:txBody>
      </p:sp>
    </p:spTree>
    <p:extLst>
      <p:ext uri="{BB962C8B-B14F-4D97-AF65-F5344CB8AC3E}">
        <p14:creationId xmlns:p14="http://schemas.microsoft.com/office/powerpoint/2010/main" val="281529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3F3E-8DD5-8117-F6D2-C6DAB79C2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 and compliance plan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9DD10-84A4-B1C7-7D02-4345DB1EC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" y="1799349"/>
            <a:ext cx="4285862" cy="4145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Model Risk Management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B82F30-C143-52D2-CC3C-CA210B21F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022947"/>
              </p:ext>
            </p:extLst>
          </p:nvPr>
        </p:nvGraphicFramePr>
        <p:xfrm>
          <a:off x="149291" y="2213935"/>
          <a:ext cx="11868538" cy="2794947"/>
        </p:xfrm>
        <a:graphic>
          <a:graphicData uri="http://schemas.openxmlformats.org/drawingml/2006/table">
            <a:tbl>
              <a:tblPr firstRow="1" bandCol="1">
                <a:tableStyleId>{5C22544A-7EE6-4342-B048-85BDC9FD1C3A}</a:tableStyleId>
              </a:tblPr>
              <a:tblGrid>
                <a:gridCol w="2911150">
                  <a:extLst>
                    <a:ext uri="{9D8B030D-6E8A-4147-A177-3AD203B41FA5}">
                      <a16:colId xmlns:a16="http://schemas.microsoft.com/office/drawing/2014/main" val="1427246700"/>
                    </a:ext>
                  </a:extLst>
                </a:gridCol>
                <a:gridCol w="8957388">
                  <a:extLst>
                    <a:ext uri="{9D8B030D-6E8A-4147-A177-3AD203B41FA5}">
                      <a16:colId xmlns:a16="http://schemas.microsoft.com/office/drawing/2014/main" val="2303491452"/>
                    </a:ext>
                  </a:extLst>
                </a:gridCol>
              </a:tblGrid>
              <a:tr h="2234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Risk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Mitigation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39348449"/>
                  </a:ext>
                </a:extLst>
              </a:tr>
              <a:tr h="469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Data drift</a:t>
                      </a:r>
                      <a:endParaRPr lang="en-IN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Evidently AI drift detection on all model features + target distribution (DataDriftPreset + TargetDriftPreset); HTML drift reports generated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079666983"/>
                  </a:ext>
                </a:extLst>
              </a:tr>
              <a:tr h="398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Concept drift</a:t>
                      </a:r>
                      <a:endParaRPr lang="en-IN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Time-based train/test split validates on future-like data; retraining triggers defined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578752264"/>
                  </a:ext>
                </a:extLst>
              </a:tr>
              <a:tr h="398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Class imbalance shift</a:t>
                      </a:r>
                      <a:endParaRPr lang="en-IN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SMOTE applied at training only; production prediction distribution monitored via audit log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99281887"/>
                  </a:ext>
                </a:extLst>
              </a:tr>
              <a:tr h="398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Feature schema violations</a:t>
                      </a:r>
                      <a:endParaRPr lang="en-IN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Real-time validation layer rejects invalid inputs with HTTP 422; all errors surfaced at once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58425241"/>
                  </a:ext>
                </a:extLst>
              </a:tr>
              <a:tr h="469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Model staleness</a:t>
                      </a:r>
                      <a:endParaRPr lang="en-IN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Defined retraining triggers: &gt;30% features drifting, target distribution shift, F1 drop &gt;10%, schema mismatch rate &gt;1% in 24h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698259271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04BB3B-6369-835D-B441-77D3ED68F7AE}"/>
              </a:ext>
            </a:extLst>
          </p:cNvPr>
          <p:cNvSpPr txBox="1">
            <a:spLocks/>
          </p:cNvSpPr>
          <p:nvPr/>
        </p:nvSpPr>
        <p:spPr>
          <a:xfrm>
            <a:off x="149291" y="5308022"/>
            <a:ext cx="4285862" cy="4145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2"/>
                </a:solidFill>
              </a:rPr>
              <a:t>Retraining Protocol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C9C837-8507-0323-3CEC-BC9EADC3FA07}"/>
              </a:ext>
            </a:extLst>
          </p:cNvPr>
          <p:cNvSpPr txBox="1"/>
          <p:nvPr/>
        </p:nvSpPr>
        <p:spPr>
          <a:xfrm>
            <a:off x="149291" y="5675395"/>
            <a:ext cx="118685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Documented checklist: collect new labeled data → re-run feature engineering → retrain → evaluate against baseline → update schema → increment version → swap </a:t>
            </a:r>
            <a:r>
              <a:rPr lang="en-US" dirty="0" err="1"/>
              <a:t>pkl</a:t>
            </a:r>
            <a:r>
              <a:rPr lang="en-US" dirty="0"/>
              <a:t> → restart → smoke test → archive old model</a:t>
            </a:r>
          </a:p>
        </p:txBody>
      </p:sp>
    </p:spTree>
    <p:extLst>
      <p:ext uri="{BB962C8B-B14F-4D97-AF65-F5344CB8AC3E}">
        <p14:creationId xmlns:p14="http://schemas.microsoft.com/office/powerpoint/2010/main" val="2516142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C0FF3-C0A6-1C71-2CC5-21841AB1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8656A-AE90-DDF2-C9F9-F6220A00F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 and compliance plan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478A7-D313-F38F-41B1-4D9F69DFB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" y="1799349"/>
            <a:ext cx="4285862" cy="4145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Compliance &amp; Governance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13EC11-2E20-523B-B905-7E4E9967B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238797"/>
              </p:ext>
            </p:extLst>
          </p:nvPr>
        </p:nvGraphicFramePr>
        <p:xfrm>
          <a:off x="261925" y="2322597"/>
          <a:ext cx="11475985" cy="2830952"/>
        </p:xfrm>
        <a:graphic>
          <a:graphicData uri="http://schemas.openxmlformats.org/drawingml/2006/table">
            <a:tbl>
              <a:tblPr firstRow="1" bandCol="1">
                <a:tableStyleId>{5C22544A-7EE6-4342-B048-85BDC9FD1C3A}</a:tableStyleId>
              </a:tblPr>
              <a:tblGrid>
                <a:gridCol w="1605723">
                  <a:extLst>
                    <a:ext uri="{9D8B030D-6E8A-4147-A177-3AD203B41FA5}">
                      <a16:colId xmlns:a16="http://schemas.microsoft.com/office/drawing/2014/main" val="2710857899"/>
                    </a:ext>
                  </a:extLst>
                </a:gridCol>
                <a:gridCol w="9870262">
                  <a:extLst>
                    <a:ext uri="{9D8B030D-6E8A-4147-A177-3AD203B41FA5}">
                      <a16:colId xmlns:a16="http://schemas.microsoft.com/office/drawing/2014/main" val="1326688292"/>
                    </a:ext>
                  </a:extLst>
                </a:gridCol>
              </a:tblGrid>
              <a:tr h="1214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effectLst/>
                        </a:rPr>
                        <a:t>Area</a:t>
                      </a:r>
                    </a:p>
                  </a:txBody>
                  <a:tcPr marL="40290" marR="4029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300" dirty="0">
                          <a:effectLst/>
                        </a:rPr>
                        <a:t>Implementation</a:t>
                      </a:r>
                    </a:p>
                  </a:txBody>
                  <a:tcPr marL="40290" marR="40290" marT="26860" marB="26860" anchor="ctr"/>
                </a:tc>
                <a:extLst>
                  <a:ext uri="{0D108BD9-81ED-4DB2-BD59-A6C34878D82A}">
                    <a16:rowId xmlns:a16="http://schemas.microsoft.com/office/drawing/2014/main" val="2078039420"/>
                  </a:ext>
                </a:extLst>
              </a:tr>
              <a:tr h="2123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Audit trail</a:t>
                      </a:r>
                      <a:endParaRPr lang="en-IN" sz="1300">
                        <a:effectLst/>
                      </a:endParaRPr>
                    </a:p>
                  </a:txBody>
                  <a:tcPr marL="40290" marR="40290" marT="26860" marB="26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>
                          <a:effectLst/>
                        </a:rPr>
                        <a:t>Every prediction logged: UUID, model+version, timestamp, SHA-256 hash, label, confidence</a:t>
                      </a:r>
                    </a:p>
                  </a:txBody>
                  <a:tcPr marL="40290" marR="40290" marT="26860" marB="26860" anchor="ctr"/>
                </a:tc>
                <a:extLst>
                  <a:ext uri="{0D108BD9-81ED-4DB2-BD59-A6C34878D82A}">
                    <a16:rowId xmlns:a16="http://schemas.microsoft.com/office/drawing/2014/main" val="2959227027"/>
                  </a:ext>
                </a:extLst>
              </a:tr>
              <a:tr h="2123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Data minimization</a:t>
                      </a:r>
                      <a:endParaRPr lang="en-IN" sz="1300">
                        <a:effectLst/>
                      </a:endParaRPr>
                    </a:p>
                  </a:txBody>
                  <a:tcPr marL="40290" marR="40290" marT="26860" marB="26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>
                          <a:effectLst/>
                        </a:rPr>
                        <a:t>No PII in logs; SHA-256 hashes enable traceability without storing patient data</a:t>
                      </a:r>
                    </a:p>
                  </a:txBody>
                  <a:tcPr marL="40290" marR="40290" marT="26860" marB="26860" anchor="ctr"/>
                </a:tc>
                <a:extLst>
                  <a:ext uri="{0D108BD9-81ED-4DB2-BD59-A6C34878D82A}">
                    <a16:rowId xmlns:a16="http://schemas.microsoft.com/office/drawing/2014/main" val="3606263569"/>
                  </a:ext>
                </a:extLst>
              </a:tr>
              <a:tr h="2123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Log retention</a:t>
                      </a:r>
                      <a:endParaRPr lang="en-IN" sz="1300">
                        <a:effectLst/>
                      </a:endParaRPr>
                    </a:p>
                  </a:txBody>
                  <a:tcPr marL="40290" marR="40290" marT="26860" marB="26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>
                          <a:effectLst/>
                        </a:rPr>
                        <a:t>Recommended: 0–90 days hot, 91–365 days cold, &gt;365 days delete/anonymize</a:t>
                      </a:r>
                    </a:p>
                  </a:txBody>
                  <a:tcPr marL="40290" marR="40290" marT="26860" marB="26860" anchor="ctr"/>
                </a:tc>
                <a:extLst>
                  <a:ext uri="{0D108BD9-81ED-4DB2-BD59-A6C34878D82A}">
                    <a16:rowId xmlns:a16="http://schemas.microsoft.com/office/drawing/2014/main" val="34349540"/>
                  </a:ext>
                </a:extLst>
              </a:tr>
              <a:tr h="3056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Model cards</a:t>
                      </a:r>
                      <a:endParaRPr lang="en-IN" sz="1300">
                        <a:effectLst/>
                      </a:endParaRPr>
                    </a:p>
                  </a:txBody>
                  <a:tcPr marL="40290" marR="40290" marT="26860" marB="26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 dirty="0">
                          <a:effectLst/>
                        </a:rPr>
                        <a:t>Full documentation for both models: training data, evaluation metrics, limitations, ethical considerations</a:t>
                      </a:r>
                    </a:p>
                  </a:txBody>
                  <a:tcPr marL="40290" marR="40290" marT="26860" marB="26860" anchor="ctr"/>
                </a:tc>
                <a:extLst>
                  <a:ext uri="{0D108BD9-81ED-4DB2-BD59-A6C34878D82A}">
                    <a16:rowId xmlns:a16="http://schemas.microsoft.com/office/drawing/2014/main" val="436430121"/>
                  </a:ext>
                </a:extLst>
              </a:tr>
              <a:tr h="2123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Explainability</a:t>
                      </a:r>
                      <a:endParaRPr lang="en-IN" sz="1300">
                        <a:effectLst/>
                      </a:endParaRPr>
                    </a:p>
                  </a:txBody>
                  <a:tcPr marL="40290" marR="40290" marT="26860" marB="26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>
                          <a:effectLst/>
                        </a:rPr>
                        <a:t>SHAP waterfall plots for individual predictions; feature importance rankings documented</a:t>
                      </a:r>
                    </a:p>
                  </a:txBody>
                  <a:tcPr marL="40290" marR="40290" marT="26860" marB="26860" anchor="ctr"/>
                </a:tc>
                <a:extLst>
                  <a:ext uri="{0D108BD9-81ED-4DB2-BD59-A6C34878D82A}">
                    <a16:rowId xmlns:a16="http://schemas.microsoft.com/office/drawing/2014/main" val="3665042851"/>
                  </a:ext>
                </a:extLst>
              </a:tr>
              <a:tr h="3056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Fairness monitoring</a:t>
                      </a:r>
                      <a:endParaRPr lang="en-IN" sz="1300">
                        <a:effectLst/>
                      </a:endParaRPr>
                    </a:p>
                  </a:txBody>
                  <a:tcPr marL="40290" marR="40290" marT="26860" marB="26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>
                          <a:effectLst/>
                        </a:rPr>
                        <a:t>Gender bias check (risk model uses gender as input), geographic bias check (city in claim model), age-bracket analysis recommended</a:t>
                      </a:r>
                    </a:p>
                  </a:txBody>
                  <a:tcPr marL="40290" marR="40290" marT="26860" marB="26860" anchor="ctr"/>
                </a:tc>
                <a:extLst>
                  <a:ext uri="{0D108BD9-81ED-4DB2-BD59-A6C34878D82A}">
                    <a16:rowId xmlns:a16="http://schemas.microsoft.com/office/drawing/2014/main" val="839613914"/>
                  </a:ext>
                </a:extLst>
              </a:tr>
              <a:tr h="30561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Prohibited uses</a:t>
                      </a:r>
                      <a:endParaRPr lang="en-IN" sz="1300">
                        <a:effectLst/>
                      </a:endParaRPr>
                    </a:p>
                  </a:txBody>
                  <a:tcPr marL="40290" marR="40290" marT="26860" marB="26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>
                          <a:effectLst/>
                        </a:rPr>
                        <a:t>Models must NOT be sole basis for treatment decisions, automatic claim rejection without human review, or denial of care/coverage</a:t>
                      </a:r>
                    </a:p>
                  </a:txBody>
                  <a:tcPr marL="40290" marR="40290" marT="26860" marB="26860" anchor="ctr"/>
                </a:tc>
                <a:extLst>
                  <a:ext uri="{0D108BD9-81ED-4DB2-BD59-A6C34878D82A}">
                    <a16:rowId xmlns:a16="http://schemas.microsoft.com/office/drawing/2014/main" val="561790211"/>
                  </a:ext>
                </a:extLst>
              </a:tr>
              <a:tr h="2123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Intended uses</a:t>
                      </a:r>
                      <a:endParaRPr lang="en-IN" sz="1300">
                        <a:effectLst/>
                      </a:endParaRPr>
                    </a:p>
                  </a:txBody>
                  <a:tcPr marL="40290" marR="40290" marT="26860" marB="26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1300" dirty="0">
                          <a:effectLst/>
                        </a:rPr>
                        <a:t>Clinical triage support, claims workflow automation, operational resource planning</a:t>
                      </a:r>
                    </a:p>
                  </a:txBody>
                  <a:tcPr marL="40290" marR="40290" marT="26860" marB="26860" anchor="ctr"/>
                </a:tc>
                <a:extLst>
                  <a:ext uri="{0D108BD9-81ED-4DB2-BD59-A6C34878D82A}">
                    <a16:rowId xmlns:a16="http://schemas.microsoft.com/office/drawing/2014/main" val="3290866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709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EAE5F-0AB9-640C-365E-C23ECF909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179A9-D8E7-3234-F070-4237EC28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 and compliance plan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7DC7D-ACC1-5B2A-72CA-03317F328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59" y="1631395"/>
            <a:ext cx="4285862" cy="4145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Known Limitations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61A97-CBC7-58B6-D3B5-B1CA93CDC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364730"/>
              </p:ext>
            </p:extLst>
          </p:nvPr>
        </p:nvGraphicFramePr>
        <p:xfrm>
          <a:off x="283059" y="2045981"/>
          <a:ext cx="11650794" cy="3057552"/>
        </p:xfrm>
        <a:graphic>
          <a:graphicData uri="http://schemas.openxmlformats.org/drawingml/2006/table">
            <a:tbl>
              <a:tblPr firstRow="1" bandCol="1">
                <a:tableStyleId>{5C22544A-7EE6-4342-B048-85BDC9FD1C3A}</a:tableStyleId>
              </a:tblPr>
              <a:tblGrid>
                <a:gridCol w="5825397">
                  <a:extLst>
                    <a:ext uri="{9D8B030D-6E8A-4147-A177-3AD203B41FA5}">
                      <a16:colId xmlns:a16="http://schemas.microsoft.com/office/drawing/2014/main" val="1076201721"/>
                    </a:ext>
                  </a:extLst>
                </a:gridCol>
                <a:gridCol w="5825397">
                  <a:extLst>
                    <a:ext uri="{9D8B030D-6E8A-4147-A177-3AD203B41FA5}">
                      <a16:colId xmlns:a16="http://schemas.microsoft.com/office/drawing/2014/main" val="589137150"/>
                    </a:ext>
                  </a:extLst>
                </a:gridCol>
              </a:tblGrid>
              <a:tr h="225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Limitation</a:t>
                      </a:r>
                    </a:p>
                  </a:txBody>
                  <a:tcPr marL="55882" marR="55882" marT="37255" marB="3725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effectLst/>
                        </a:rPr>
                        <a:t>Impact</a:t>
                      </a:r>
                    </a:p>
                  </a:txBody>
                  <a:tcPr marL="55882" marR="55882" marT="37255" marB="37255" anchor="ctr"/>
                </a:tc>
                <a:extLst>
                  <a:ext uri="{0D108BD9-81ED-4DB2-BD59-A6C34878D82A}">
                    <a16:rowId xmlns:a16="http://schemas.microsoft.com/office/drawing/2014/main" val="2801987153"/>
                  </a:ext>
                </a:extLst>
              </a:tr>
              <a:tr h="402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Risk model uses only 3 features</a:t>
                      </a:r>
                    </a:p>
                  </a:txBody>
                  <a:tcPr marL="55882" marR="55882" marT="37255" marB="372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Coarse risk proxy; does not capture diagnosis severity or comorbidity count</a:t>
                      </a:r>
                    </a:p>
                  </a:txBody>
                  <a:tcPr marL="55882" marR="55882" marT="37255" marB="37255" anchor="ctr"/>
                </a:tc>
                <a:extLst>
                  <a:ext uri="{0D108BD9-81ED-4DB2-BD59-A6C34878D82A}">
                    <a16:rowId xmlns:a16="http://schemas.microsoft.com/office/drawing/2014/main" val="1076879077"/>
                  </a:ext>
                </a:extLst>
              </a:tr>
              <a:tr h="394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Binary </a:t>
                      </a:r>
                      <a:r>
                        <a:rPr lang="en-IN" sz="1400" dirty="0" err="1">
                          <a:solidFill>
                            <a:schemeClr val="tx1"/>
                          </a:solidFill>
                          <a:effectLst/>
                        </a:rPr>
                        <a:t>chronic_flag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5882" marR="55882" marT="37255" marB="372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Patients with 1 vs. 3 chronic conditions treated identically</a:t>
                      </a:r>
                    </a:p>
                  </a:txBody>
                  <a:tcPr marL="55882" marR="55882" marT="37255" marB="37255" anchor="ctr"/>
                </a:tc>
                <a:extLst>
                  <a:ext uri="{0D108BD9-81ED-4DB2-BD59-A6C34878D82A}">
                    <a16:rowId xmlns:a16="http://schemas.microsoft.com/office/drawing/2014/main" val="3088854297"/>
                  </a:ext>
                </a:extLst>
              </a:tr>
              <a:tr h="394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payment_days may not be available at prediction time</a:t>
                      </a:r>
                    </a:p>
                  </a:txBody>
                  <a:tcPr marL="55882" marR="55882" marT="37255" marB="372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Requires imputation strategy at inference</a:t>
                      </a:r>
                    </a:p>
                  </a:txBody>
                  <a:tcPr marL="55882" marR="55882" marT="37255" marB="37255" anchor="ctr"/>
                </a:tc>
                <a:extLst>
                  <a:ext uri="{0D108BD9-81ED-4DB2-BD59-A6C34878D82A}">
                    <a16:rowId xmlns:a16="http://schemas.microsoft.com/office/drawing/2014/main" val="1026886114"/>
                  </a:ext>
                </a:extLst>
              </a:tr>
              <a:tr h="394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Negative lag_time in training data</a:t>
                      </a:r>
                    </a:p>
                  </a:txBody>
                  <a:tcPr marL="55882" marR="55882" marT="37255" marB="372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Data quality issue; schema enforcement planned for v1.1</a:t>
                      </a:r>
                    </a:p>
                  </a:txBody>
                  <a:tcPr marL="55882" marR="55882" marT="37255" marB="37255" anchor="ctr"/>
                </a:tc>
                <a:extLst>
                  <a:ext uri="{0D108BD9-81ED-4DB2-BD59-A6C34878D82A}">
                    <a16:rowId xmlns:a16="http://schemas.microsoft.com/office/drawing/2014/main" val="1138162899"/>
                  </a:ext>
                </a:extLst>
              </a:tr>
              <a:tr h="402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25,000 rows is modest for healthcare AI</a:t>
                      </a:r>
                    </a:p>
                  </a:txBody>
                  <a:tcPr marL="55882" marR="55882" marT="37255" marB="372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Minority classes (High-risk: ~5K, Rejected: ~3.8K) may overfit</a:t>
                      </a:r>
                    </a:p>
                  </a:txBody>
                  <a:tcPr marL="55882" marR="55882" marT="37255" marB="37255" anchor="ctr"/>
                </a:tc>
                <a:extLst>
                  <a:ext uri="{0D108BD9-81ED-4DB2-BD59-A6C34878D82A}">
                    <a16:rowId xmlns:a16="http://schemas.microsoft.com/office/drawing/2014/main" val="652928739"/>
                  </a:ext>
                </a:extLst>
              </a:tr>
              <a:tr h="225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</a:rPr>
                        <a:t>PyCaret auto-selection non-deterministic</a:t>
                      </a:r>
                    </a:p>
                  </a:txBody>
                  <a:tcPr marL="55882" marR="55882" marT="37255" marB="372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effectLst/>
                        </a:rPr>
                        <a:t>Model type pinning recommended for v2.0</a:t>
                      </a:r>
                    </a:p>
                  </a:txBody>
                  <a:tcPr marL="55882" marR="55882" marT="37255" marB="37255" anchor="ctr"/>
                </a:tc>
                <a:extLst>
                  <a:ext uri="{0D108BD9-81ED-4DB2-BD59-A6C34878D82A}">
                    <a16:rowId xmlns:a16="http://schemas.microsoft.com/office/drawing/2014/main" val="676316416"/>
                  </a:ext>
                </a:extLst>
              </a:tr>
              <a:tr h="394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</a:rPr>
                        <a:t>No real-time retraining or online learning</a:t>
                      </a:r>
                    </a:p>
                  </a:txBody>
                  <a:tcPr marL="55882" marR="55882" marT="37255" marB="372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effectLst/>
                        </a:rPr>
                        <a:t>Static model files; requires explicit retrain-redeploy cycle</a:t>
                      </a:r>
                    </a:p>
                  </a:txBody>
                  <a:tcPr marL="55882" marR="55882" marT="37255" marB="37255" anchor="ctr"/>
                </a:tc>
                <a:extLst>
                  <a:ext uri="{0D108BD9-81ED-4DB2-BD59-A6C34878D82A}">
                    <a16:rowId xmlns:a16="http://schemas.microsoft.com/office/drawing/2014/main" val="254923410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9EA7575-4AA1-F595-42F4-85CE28B63108}"/>
              </a:ext>
            </a:extLst>
          </p:cNvPr>
          <p:cNvSpPr txBox="1">
            <a:spLocks/>
          </p:cNvSpPr>
          <p:nvPr/>
        </p:nvSpPr>
        <p:spPr>
          <a:xfrm>
            <a:off x="283059" y="5458826"/>
            <a:ext cx="4285862" cy="4145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2"/>
                </a:solidFill>
              </a:rPr>
              <a:t>Verified Governance Artifacts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6F1FFE-FBE0-6A75-03D9-4C94B314A48A}"/>
              </a:ext>
            </a:extLst>
          </p:cNvPr>
          <p:cNvSpPr txBox="1"/>
          <p:nvPr/>
        </p:nvSpPr>
        <p:spPr>
          <a:xfrm>
            <a:off x="283059" y="5827882"/>
            <a:ext cx="117627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artifacts confirmed present: both .</a:t>
            </a:r>
            <a:r>
              <a:rPr lang="en-US" dirty="0" err="1"/>
              <a:t>pkl</a:t>
            </a:r>
            <a:r>
              <a:rPr lang="en-US" dirty="0"/>
              <a:t> model files, both feature schema JSONs, </a:t>
            </a:r>
            <a:r>
              <a:rPr lang="en-US" dirty="0" err="1"/>
              <a:t>validate.py</a:t>
            </a:r>
            <a:r>
              <a:rPr lang="en-US" dirty="0"/>
              <a:t>, </a:t>
            </a:r>
            <a:r>
              <a:rPr lang="en-US" dirty="0" err="1"/>
              <a:t>Api.py</a:t>
            </a:r>
            <a:r>
              <a:rPr lang="en-US" dirty="0"/>
              <a:t>, </a:t>
            </a:r>
            <a:r>
              <a:rPr lang="en-US" dirty="0" err="1"/>
              <a:t>predictions.log</a:t>
            </a:r>
            <a:r>
              <a:rPr lang="en-US" dirty="0"/>
              <a:t>, both HTML drift reports.</a:t>
            </a:r>
          </a:p>
        </p:txBody>
      </p:sp>
    </p:spTree>
    <p:extLst>
      <p:ext uri="{BB962C8B-B14F-4D97-AF65-F5344CB8AC3E}">
        <p14:creationId xmlns:p14="http://schemas.microsoft.com/office/powerpoint/2010/main" val="4234673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671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</TotalTime>
  <Words>1998</Words>
  <Application>Microsoft Macintosh PowerPoint</Application>
  <PresentationFormat>Widescreen</PresentationFormat>
  <Paragraphs>220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-apple-system</vt:lpstr>
      <vt:lpstr>Aptos</vt:lpstr>
      <vt:lpstr>Aptos Display</vt:lpstr>
      <vt:lpstr>Arial</vt:lpstr>
      <vt:lpstr>Office Theme</vt:lpstr>
      <vt:lpstr>Executive Business Presentation</vt:lpstr>
      <vt:lpstr>Agenda</vt:lpstr>
      <vt:lpstr>Business problem and operational risks</vt:lpstr>
      <vt:lpstr>System architecture and data flow</vt:lpstr>
      <vt:lpstr>Key insights from SQL and EDA (1/2)</vt:lpstr>
      <vt:lpstr>Key insights from SQL and EDA (2/2)</vt:lpstr>
      <vt:lpstr>Model performance in business terms Model 1</vt:lpstr>
      <vt:lpstr>Model performance in business terms Model 2</vt:lpstr>
      <vt:lpstr>Financial impact and ROI estimation</vt:lpstr>
      <vt:lpstr>Deployment and scaling strategy</vt:lpstr>
      <vt:lpstr>Risk management and compliance plan (1/3)</vt:lpstr>
      <vt:lpstr>Risk management and compliance plan (2/3)</vt:lpstr>
      <vt:lpstr>Risk management and compliance plan (3/3)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sundar</dc:creator>
  <cp:lastModifiedBy>ram sundar</cp:lastModifiedBy>
  <cp:revision>21</cp:revision>
  <dcterms:created xsi:type="dcterms:W3CDTF">2026-05-02T04:55:47Z</dcterms:created>
  <dcterms:modified xsi:type="dcterms:W3CDTF">2026-05-02T06:11:57Z</dcterms:modified>
</cp:coreProperties>
</file>